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44" r:id="rId4"/>
  </p:sldMasterIdLst>
  <p:notesMasterIdLst>
    <p:notesMasterId r:id="rId37"/>
  </p:notesMasterIdLst>
  <p:sldIdLst>
    <p:sldId id="302" r:id="rId5"/>
    <p:sldId id="256" r:id="rId6"/>
    <p:sldId id="259" r:id="rId7"/>
    <p:sldId id="260" r:id="rId8"/>
    <p:sldId id="261" r:id="rId9"/>
    <p:sldId id="262" r:id="rId10"/>
    <p:sldId id="263" r:id="rId11"/>
    <p:sldId id="301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72" r:id="rId28"/>
    <p:sldId id="273" r:id="rId29"/>
    <p:sldId id="274" r:id="rId30"/>
    <p:sldId id="275" r:id="rId31"/>
    <p:sldId id="276" r:id="rId32"/>
    <p:sldId id="277" r:id="rId33"/>
    <p:sldId id="279" r:id="rId34"/>
    <p:sldId id="299" r:id="rId35"/>
    <p:sldId id="280" r:id="rId36"/>
  </p:sldIdLst>
  <p:sldSz cx="9144000" cy="6858000" type="screen4x3"/>
  <p:notesSz cx="6858000" cy="9144000"/>
  <p:defaultTextStyle>
    <a:defPPr>
      <a:defRPr lang="es-P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8635F8-3236-4FA2-B468-F309CE7DB2ED}" v="2" dt="2021-05-16T03:22:16.414"/>
    <p1510:client id="{58D04F86-EC45-4EB0-8C52-89016ECC4619}" v="3" dt="2021-04-15T02:16:36.557"/>
    <p1510:client id="{7B61EAAC-F829-4284-9B1F-8228D1E5C5B2}" v="1" dt="2021-04-15T06:14:09.790"/>
    <p1510:client id="{DAD8CA68-92D1-4670-9AB8-A2574C838882}" v="7" dt="2021-05-04T22:16:03.708"/>
    <p1510:client id="{E79942AA-4880-4E1B-964C-13C0009C99B3}" v="1" dt="2020-04-22T07:39:45.9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A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B9D2CB-4AC2-437B-932A-1CDBB3C750D8}" type="datetimeFigureOut">
              <a:rPr lang="es-PA" smtClean="0"/>
              <a:t>04/08/2024</a:t>
            </a:fld>
            <a:endParaRPr lang="es-PA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A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A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31082E-0FBD-4A10-A0E6-8749DD9D536A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2954338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BCD8044-91DD-424A-A6D2-A8CBA6688663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s-E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s-ES"/>
              <a:t>De acuerdo a su naturaleza las cuentas se dividen en </a:t>
            </a:r>
          </a:p>
          <a:p>
            <a:pPr eaLnBrk="1" hangingPunct="1">
              <a:spcBef>
                <a:spcPct val="0"/>
              </a:spcBef>
            </a:pPr>
            <a:r>
              <a:rPr lang="es-ES"/>
              <a:t>Cuentas Reales, son las cuentas que permanecen con saldos al cierre del periodo fiscal, por ejemplo las cuentas de Activo, Pasivo y Capital, pues no se utilizan para determinar la utilidad de las empresas.</a:t>
            </a:r>
          </a:p>
          <a:p>
            <a:pPr eaLnBrk="1" hangingPunct="1">
              <a:spcBef>
                <a:spcPct val="0"/>
              </a:spcBef>
            </a:pPr>
            <a:endParaRPr lang="es-ES"/>
          </a:p>
          <a:p>
            <a:pPr eaLnBrk="1" hangingPunct="1">
              <a:spcBef>
                <a:spcPct val="0"/>
              </a:spcBef>
            </a:pPr>
            <a:r>
              <a:rPr lang="es-ES"/>
              <a:t>Cuentas Nominales, son las cuentas de ingresos costos y gastos, y son las utilizadas para determinar la utilidad de la empresa.</a:t>
            </a:r>
          </a:p>
          <a:p>
            <a:pPr eaLnBrk="1" hangingPunct="1">
              <a:spcBef>
                <a:spcPct val="0"/>
              </a:spcBef>
            </a:pPr>
            <a:r>
              <a:rPr lang="es-ES"/>
              <a:t>Estas cuentas se cierran al final de cada periodo fiscal.</a:t>
            </a:r>
          </a:p>
          <a:p>
            <a:pPr eaLnBrk="1" hangingPunct="1">
              <a:spcBef>
                <a:spcPct val="0"/>
              </a:spcBef>
            </a:pPr>
            <a:r>
              <a:rPr lang="es-ES"/>
              <a:t>Cuentas de Orden; son contenidas en los auxiliares de cuentas por cobrar y Pagar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PA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022F5-DD40-44D6-9567-ACC5D421D8B3}" type="datetimeFigureOut">
              <a:rPr lang="es-PA" smtClean="0"/>
              <a:pPr/>
              <a:t>04/08/2024</a:t>
            </a:fld>
            <a:endParaRPr lang="es-PA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FDEB4-039E-44E6-965F-1E756E1EAE70}" type="slidenum">
              <a:rPr lang="es-PA" smtClean="0"/>
              <a:pPr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1218176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022F5-DD40-44D6-9567-ACC5D421D8B3}" type="datetimeFigureOut">
              <a:rPr lang="es-PA" smtClean="0"/>
              <a:pPr/>
              <a:t>04/08/2024</a:t>
            </a:fld>
            <a:endParaRPr lang="es-PA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FDEB4-039E-44E6-965F-1E756E1EAE70}" type="slidenum">
              <a:rPr lang="es-PA" smtClean="0"/>
              <a:pPr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837876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022F5-DD40-44D6-9567-ACC5D421D8B3}" type="datetimeFigureOut">
              <a:rPr lang="es-PA" smtClean="0"/>
              <a:pPr/>
              <a:t>04/08/2024</a:t>
            </a:fld>
            <a:endParaRPr lang="es-PA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FDEB4-039E-44E6-965F-1E756E1EAE70}" type="slidenum">
              <a:rPr lang="es-PA" smtClean="0"/>
              <a:pPr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819884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022F5-DD40-44D6-9567-ACC5D421D8B3}" type="datetimeFigureOut">
              <a:rPr lang="es-PA" smtClean="0"/>
              <a:pPr/>
              <a:t>04/08/2024</a:t>
            </a:fld>
            <a:endParaRPr lang="es-PA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FDEB4-039E-44E6-965F-1E756E1EAE70}" type="slidenum">
              <a:rPr lang="es-PA" smtClean="0"/>
              <a:pPr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2770241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022F5-DD40-44D6-9567-ACC5D421D8B3}" type="datetimeFigureOut">
              <a:rPr lang="es-PA" smtClean="0"/>
              <a:pPr/>
              <a:t>04/08/2024</a:t>
            </a:fld>
            <a:endParaRPr lang="es-PA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FDEB4-039E-44E6-965F-1E756E1EAE70}" type="slidenum">
              <a:rPr lang="es-PA" smtClean="0"/>
              <a:pPr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560687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022F5-DD40-44D6-9567-ACC5D421D8B3}" type="datetimeFigureOut">
              <a:rPr lang="es-PA" smtClean="0"/>
              <a:pPr/>
              <a:t>04/08/2024</a:t>
            </a:fld>
            <a:endParaRPr lang="es-PA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FDEB4-039E-44E6-965F-1E756E1EAE70}" type="slidenum">
              <a:rPr lang="es-PA" smtClean="0"/>
              <a:pPr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022263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022F5-DD40-44D6-9567-ACC5D421D8B3}" type="datetimeFigureOut">
              <a:rPr lang="es-PA" smtClean="0"/>
              <a:pPr/>
              <a:t>04/08/2024</a:t>
            </a:fld>
            <a:endParaRPr lang="es-PA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FDEB4-039E-44E6-965F-1E756E1EAE70}" type="slidenum">
              <a:rPr lang="es-PA" smtClean="0"/>
              <a:pPr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76250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022F5-DD40-44D6-9567-ACC5D421D8B3}" type="datetimeFigureOut">
              <a:rPr lang="es-PA" smtClean="0"/>
              <a:pPr/>
              <a:t>04/08/2024</a:t>
            </a:fld>
            <a:endParaRPr lang="es-PA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FDEB4-039E-44E6-965F-1E756E1EAE70}" type="slidenum">
              <a:rPr lang="es-PA" smtClean="0"/>
              <a:pPr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642914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A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022F5-DD40-44D6-9567-ACC5D421D8B3}" type="datetimeFigureOut">
              <a:rPr lang="es-PA" smtClean="0"/>
              <a:pPr/>
              <a:t>04/08/2024</a:t>
            </a:fld>
            <a:endParaRPr lang="es-PA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FDEB4-039E-44E6-965F-1E756E1EAE70}" type="slidenum">
              <a:rPr lang="es-PA" smtClean="0"/>
              <a:pPr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2271069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022F5-DD40-44D6-9567-ACC5D421D8B3}" type="datetimeFigureOut">
              <a:rPr lang="es-PA" smtClean="0"/>
              <a:pPr/>
              <a:t>04/08/2024</a:t>
            </a:fld>
            <a:endParaRPr lang="es-PA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FDEB4-039E-44E6-965F-1E756E1EAE70}" type="slidenum">
              <a:rPr lang="es-PA" smtClean="0"/>
              <a:pPr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70473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022F5-DD40-44D6-9567-ACC5D421D8B3}" type="datetimeFigureOut">
              <a:rPr lang="es-PA" smtClean="0"/>
              <a:pPr/>
              <a:t>04/08/2024</a:t>
            </a:fld>
            <a:endParaRPr lang="es-PA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FDEB4-039E-44E6-965F-1E756E1EAE70}" type="slidenum">
              <a:rPr lang="es-PA" smtClean="0"/>
              <a:pPr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59793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4022F5-DD40-44D6-9567-ACC5D421D8B3}" type="datetimeFigureOut">
              <a:rPr lang="es-PA" smtClean="0"/>
              <a:pPr/>
              <a:t>04/08/2024</a:t>
            </a:fld>
            <a:endParaRPr lang="es-PA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A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4FDEB4-039E-44E6-965F-1E756E1EAE70}" type="slidenum">
              <a:rPr lang="es-PA" smtClean="0"/>
              <a:pPr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5977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5" r:id="rId1"/>
    <p:sldLayoutId id="2147484046" r:id="rId2"/>
    <p:sldLayoutId id="2147484047" r:id="rId3"/>
    <p:sldLayoutId id="2147484048" r:id="rId4"/>
    <p:sldLayoutId id="2147484049" r:id="rId5"/>
    <p:sldLayoutId id="2147484050" r:id="rId6"/>
    <p:sldLayoutId id="2147484051" r:id="rId7"/>
    <p:sldLayoutId id="2147484052" r:id="rId8"/>
    <p:sldLayoutId id="2147484053" r:id="rId9"/>
    <p:sldLayoutId id="2147484054" r:id="rId10"/>
    <p:sldLayoutId id="214748405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rgbClr val="00206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s-PA"/>
              <a:t>GRUPOS DE CUENTAS Y ECUACIÓN BÁSICA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788024" y="1484784"/>
            <a:ext cx="4038600" cy="4781128"/>
          </a:xfrm>
        </p:spPr>
        <p:txBody>
          <a:bodyPr>
            <a:normAutofit lnSpcReduction="10000"/>
          </a:bodyPr>
          <a:lstStyle/>
          <a:p>
            <a:r>
              <a:rPr lang="es-PA">
                <a:latin typeface="Arial Rounded MT Bold" panose="020F0704030504030204" pitchFamily="34" charset="0"/>
              </a:rPr>
              <a:t>Las Cuentas Concepto e Importancia</a:t>
            </a:r>
          </a:p>
          <a:p>
            <a:r>
              <a:rPr lang="es-PA">
                <a:latin typeface="Arial Rounded MT Bold" panose="020F0704030504030204" pitchFamily="34" charset="0"/>
              </a:rPr>
              <a:t>Ecuación Contable Básica</a:t>
            </a:r>
          </a:p>
          <a:p>
            <a:r>
              <a:rPr lang="es-PA">
                <a:latin typeface="Arial Rounded MT Bold" panose="020F0704030504030204" pitchFamily="34" charset="0"/>
              </a:rPr>
              <a:t>La Partida Doble</a:t>
            </a:r>
          </a:p>
          <a:p>
            <a:r>
              <a:rPr lang="es-PA">
                <a:latin typeface="Arial Rounded MT Bold" panose="020F0704030504030204" pitchFamily="34" charset="0"/>
              </a:rPr>
              <a:t>Cuentas Reales</a:t>
            </a:r>
          </a:p>
          <a:p>
            <a:r>
              <a:rPr lang="es-PA">
                <a:latin typeface="Arial Rounded MT Bold" panose="020F0704030504030204" pitchFamily="34" charset="0"/>
              </a:rPr>
              <a:t>Cuentas Mixtas</a:t>
            </a:r>
          </a:p>
          <a:p>
            <a:r>
              <a:rPr lang="es-PA">
                <a:latin typeface="Arial Rounded MT Bold" panose="020F0704030504030204" pitchFamily="34" charset="0"/>
              </a:rPr>
              <a:t>Sistema de Codificación de Cuentas</a:t>
            </a:r>
          </a:p>
          <a:p>
            <a:endParaRPr lang="es-PA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132856"/>
            <a:ext cx="4788024" cy="396044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9022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24744"/>
          </a:xfrm>
          <a:solidFill>
            <a:srgbClr val="00206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s-PA">
                <a:latin typeface="Aharoni" pitchFamily="2" charset="-79"/>
                <a:cs typeface="Aharoni" pitchFamily="2" charset="-79"/>
              </a:rPr>
              <a:t>EL PROCESO CONTABLE 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5019506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s-PA"/>
              <a:t>La información contable que presenta una empresa es elaborada a través de lo que llamamos PROCESO CONTABLE, que es el ciclo mediante el cual las transacciones de una empresa son registradas y resumidas para la obtención de los estados financieros.</a:t>
            </a:r>
          </a:p>
          <a:p>
            <a:pPr algn="just"/>
            <a:r>
              <a:rPr lang="es-PA"/>
              <a:t> 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805192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r>
              <a:rPr lang="es-PA"/>
              <a:t>Este proceso esta formado por los siguientes pasos:</a:t>
            </a:r>
          </a:p>
          <a:p>
            <a:endParaRPr lang="es-PA"/>
          </a:p>
          <a:p>
            <a:r>
              <a:rPr lang="es-PA"/>
              <a:t>1. Registrar las transacciones   en el Diario General.</a:t>
            </a:r>
          </a:p>
          <a:p>
            <a:r>
              <a:rPr lang="es-PA"/>
              <a:t>2. Pasar la información del diario general al Mayor General</a:t>
            </a:r>
          </a:p>
          <a:p>
            <a:r>
              <a:rPr lang="es-PA"/>
              <a:t>3. Obtener la Balanza de comprobación</a:t>
            </a:r>
          </a:p>
          <a:p>
            <a:r>
              <a:rPr lang="es-PA"/>
              <a:t>4. Registrar los Asientos de Ajustes</a:t>
            </a:r>
          </a:p>
          <a:p>
            <a:r>
              <a:rPr lang="es-PA"/>
              <a:t>5. Formular los Estados Financieros</a:t>
            </a:r>
          </a:p>
          <a:p>
            <a:r>
              <a:rPr lang="es-PA"/>
              <a:t> 6. Hacer los Asientos de cierre.</a:t>
            </a:r>
          </a:p>
        </p:txBody>
      </p:sp>
      <p:pic>
        <p:nvPicPr>
          <p:cNvPr id="7" name="6 Imagen" descr="http://abadconsultores.com.ve/ima/foto_abad_contabilidad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66589" y="3933056"/>
            <a:ext cx="3000396" cy="2376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52736"/>
          </a:xfrm>
          <a:solidFill>
            <a:srgbClr val="002060"/>
          </a:solidFill>
        </p:spPr>
        <p:txBody>
          <a:bodyPr/>
          <a:lstStyle/>
          <a:p>
            <a:r>
              <a:rPr lang="es-PA">
                <a:solidFill>
                  <a:schemeClr val="bg1"/>
                </a:solidFill>
                <a:latin typeface="Aharoni" pitchFamily="2" charset="-79"/>
                <a:cs typeface="Aharoni" pitchFamily="2" charset="-79"/>
              </a:rPr>
              <a:t>T</a:t>
            </a:r>
            <a:r>
              <a:rPr lang="es-PA" b="1">
                <a:solidFill>
                  <a:schemeClr val="bg1"/>
                </a:solidFill>
                <a:latin typeface="Aharoni" pitchFamily="2" charset="-79"/>
                <a:cs typeface="Aharoni" pitchFamily="2" charset="-79"/>
              </a:rPr>
              <a:t>É</a:t>
            </a:r>
            <a:r>
              <a:rPr lang="es-PA">
                <a:solidFill>
                  <a:schemeClr val="bg1"/>
                </a:solidFill>
                <a:latin typeface="Aharoni" pitchFamily="2" charset="-79"/>
                <a:cs typeface="Aharoni" pitchFamily="2" charset="-79"/>
              </a:rPr>
              <a:t>RMINOS CONTABLES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3898776" cy="5019506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s-PA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CUENTA:</a:t>
            </a:r>
          </a:p>
          <a:p>
            <a:pPr algn="just"/>
            <a:r>
              <a:rPr lang="es-PA"/>
              <a:t>Unidad mínima de registro para contabilizar. Es el lugar en el que se anotan los aumentos o disminuciones de cada partida, provocados por los movimientos que se originan en una transacción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2"/>
          </p:nvPr>
        </p:nvSpPr>
        <p:spPr>
          <a:xfrm>
            <a:off x="4427984" y="1481328"/>
            <a:ext cx="4258816" cy="5019506"/>
          </a:xfr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s-PA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NOMBRE DE LAS CUENTAS o SUBCUENTAS:</a:t>
            </a:r>
          </a:p>
          <a:p>
            <a:pPr algn="just"/>
            <a:r>
              <a:rPr lang="es-PA">
                <a:solidFill>
                  <a:schemeClr val="bg1"/>
                </a:solidFill>
              </a:rPr>
              <a:t>Pueden variar dependiendo de las empresas o pueden tener rubros definidos para una adecuada presentación de los Estados Financieros.</a:t>
            </a:r>
          </a:p>
          <a:p>
            <a:endParaRPr lang="es-PA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3 Título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rgbClr val="002060"/>
          </a:solidFill>
        </p:spPr>
        <p:txBody>
          <a:bodyPr/>
          <a:lstStyle/>
          <a:p>
            <a:r>
              <a:rPr lang="es-PA" b="1">
                <a:solidFill>
                  <a:schemeClr val="bg1"/>
                </a:solidFill>
                <a:latin typeface="Aharoni" pitchFamily="2" charset="-79"/>
                <a:cs typeface="Aharoni" pitchFamily="2" charset="-79"/>
              </a:rPr>
              <a:t>TÉRMINOS CONTABLES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sz="half" idx="1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ctr">
              <a:buNone/>
            </a:pPr>
            <a:endParaRPr lang="es-PA"/>
          </a:p>
          <a:p>
            <a:pPr marL="0" indent="0" algn="ctr">
              <a:buNone/>
            </a:pPr>
            <a:r>
              <a:rPr lang="es-PA" sz="3200" b="1"/>
              <a:t>CATÁLOGO DE CUENTAS:</a:t>
            </a:r>
          </a:p>
          <a:p>
            <a:pPr marL="0" indent="0" algn="ctr">
              <a:buNone/>
            </a:pPr>
            <a:r>
              <a:rPr lang="es-PA" sz="3200"/>
              <a:t>Es un listado de cuentas con su respectivo número asignado para identificar la cuenta</a:t>
            </a:r>
          </a:p>
        </p:txBody>
      </p:sp>
      <p:pic>
        <p:nvPicPr>
          <p:cNvPr id="6" name="5 Marcador de contenido" descr="http://oteroyramirez.com/images/1.jpg"/>
          <p:cNvPicPr>
            <a:picLocks noGrp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5051085" y="1600200"/>
            <a:ext cx="323283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1" y="0"/>
            <a:ext cx="9144000" cy="1417638"/>
          </a:xfrm>
          <a:solidFill>
            <a:srgbClr val="002060"/>
          </a:solidFill>
        </p:spPr>
        <p:txBody>
          <a:bodyPr/>
          <a:lstStyle/>
          <a:p>
            <a:r>
              <a:rPr lang="es-PA" b="1">
                <a:solidFill>
                  <a:schemeClr val="bg1"/>
                </a:solidFill>
                <a:latin typeface="Aharoni" pitchFamily="2" charset="-79"/>
                <a:cs typeface="Aharoni" pitchFamily="2" charset="-79"/>
              </a:rPr>
              <a:t>TÉRMINOS CONTABLES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5090944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s-PA" sz="3200" b="1"/>
              <a:t>CATÁLOGO DE CUENTAS</a:t>
            </a:r>
            <a:r>
              <a:rPr lang="es-PA" sz="3200"/>
              <a:t>: </a:t>
            </a:r>
          </a:p>
          <a:p>
            <a:pPr algn="just">
              <a:buNone/>
            </a:pPr>
            <a:r>
              <a:rPr lang="es-PA" sz="3200"/>
              <a:t>	Las principales grupos de cuentas son activos, pasivos, capital, ingreso, costos y gastos, a tendiendo a esta clasificación se le colocan los números.</a:t>
            </a:r>
          </a:p>
        </p:txBody>
      </p:sp>
      <p:pic>
        <p:nvPicPr>
          <p:cNvPr id="5" name="4 Marcador de contenido" descr="http://www.accsoft.ch/images/shot_ap_esp%20chart%20of%20accounts.gif"/>
          <p:cNvPicPr>
            <a:picLocks noGrp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4861050" y="1802491"/>
            <a:ext cx="3739900" cy="460851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8921" y="357166"/>
            <a:ext cx="8646786" cy="6215106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8683" y="159055"/>
            <a:ext cx="8660214" cy="651341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image.slidesharecdn.com/ecuacioncontable-130726173821-phpapp01/95/ecuacin-contable-1-638.jpg?cb=137488136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11" y="334684"/>
            <a:ext cx="8466086" cy="6356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0" y="0"/>
            <a:ext cx="9144000" cy="40466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A">
              <a:solidFill>
                <a:srgbClr val="FFFF00"/>
              </a:solidFill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0" y="6428209"/>
            <a:ext cx="9144000" cy="40466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A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5002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89781"/>
            <a:ext cx="8534400" cy="1143000"/>
          </a:xfrm>
          <a:ln>
            <a:miter lim="800000"/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ES" sz="4000" b="1"/>
              <a:t>Cuentas, Clasificación y Codificación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524000"/>
            <a:ext cx="8534400" cy="5029200"/>
          </a:xfrm>
          <a:ln>
            <a:miter lim="800000"/>
            <a:headEnd/>
            <a:tailEnd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ES"/>
              <a:t>Concepto: C</a:t>
            </a:r>
            <a:r>
              <a:rPr lang="es-ES" b="1"/>
              <a:t>uenta</a:t>
            </a:r>
            <a:r>
              <a:rPr lang="es-ES"/>
              <a:t> es el nombre que se utiliza para definir el recuento ordenado de las transacciones diarias de una empresa.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ES"/>
              <a:t>Consta de 2 partes</a:t>
            </a:r>
          </a:p>
        </p:txBody>
      </p:sp>
      <p:sp>
        <p:nvSpPr>
          <p:cNvPr id="3080" name="Line 4"/>
          <p:cNvSpPr>
            <a:spLocks noChangeShapeType="1"/>
          </p:cNvSpPr>
          <p:nvPr/>
        </p:nvSpPr>
        <p:spPr bwMode="auto">
          <a:xfrm>
            <a:off x="4716463" y="3644900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PA"/>
          </a:p>
        </p:txBody>
      </p:sp>
      <p:sp>
        <p:nvSpPr>
          <p:cNvPr id="3081" name="Line 5"/>
          <p:cNvSpPr>
            <a:spLocks noChangeShapeType="1"/>
          </p:cNvSpPr>
          <p:nvPr/>
        </p:nvSpPr>
        <p:spPr bwMode="auto">
          <a:xfrm>
            <a:off x="6372225" y="3644900"/>
            <a:ext cx="0" cy="1512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PA"/>
          </a:p>
        </p:txBody>
      </p:sp>
      <p:sp>
        <p:nvSpPr>
          <p:cNvPr id="3082" name="Text Box 6"/>
          <p:cNvSpPr txBox="1">
            <a:spLocks noChangeArrowheads="1"/>
          </p:cNvSpPr>
          <p:nvPr/>
        </p:nvSpPr>
        <p:spPr bwMode="auto">
          <a:xfrm>
            <a:off x="5580063" y="3141663"/>
            <a:ext cx="1333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s-ES" sz="2800" b="1">
                <a:latin typeface="Calibri" pitchFamily="34" charset="0"/>
              </a:rPr>
              <a:t>cuenta</a:t>
            </a:r>
          </a:p>
        </p:txBody>
      </p:sp>
      <p:sp>
        <p:nvSpPr>
          <p:cNvPr id="3083" name="Text Box 7"/>
          <p:cNvSpPr txBox="1">
            <a:spLocks noChangeArrowheads="1"/>
          </p:cNvSpPr>
          <p:nvPr/>
        </p:nvSpPr>
        <p:spPr bwMode="auto">
          <a:xfrm>
            <a:off x="4840288" y="3592513"/>
            <a:ext cx="844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s-ES">
                <a:latin typeface="Calibri" pitchFamily="34" charset="0"/>
              </a:rPr>
              <a:t>Débito</a:t>
            </a:r>
          </a:p>
        </p:txBody>
      </p:sp>
      <p:sp>
        <p:nvSpPr>
          <p:cNvPr id="3084" name="Text Box 8"/>
          <p:cNvSpPr txBox="1">
            <a:spLocks noChangeArrowheads="1"/>
          </p:cNvSpPr>
          <p:nvPr/>
        </p:nvSpPr>
        <p:spPr bwMode="auto">
          <a:xfrm>
            <a:off x="6927850" y="3592513"/>
            <a:ext cx="920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s-ES">
                <a:latin typeface="Calibri" pitchFamily="34" charset="0"/>
              </a:rPr>
              <a:t>Crédito</a:t>
            </a:r>
          </a:p>
        </p:txBody>
      </p:sp>
      <p:sp>
        <p:nvSpPr>
          <p:cNvPr id="6153" name="Text Box 9"/>
          <p:cNvSpPr txBox="1">
            <a:spLocks noChangeArrowheads="1"/>
          </p:cNvSpPr>
          <p:nvPr/>
        </p:nvSpPr>
        <p:spPr bwMode="auto">
          <a:xfrm>
            <a:off x="685800" y="5410200"/>
            <a:ext cx="7842250" cy="10668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3200" b="1"/>
              <a:t>El Lado Izquierdo se llama Débito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3200" b="1"/>
              <a:t>El Lado derecho de llama Crédito</a:t>
            </a:r>
          </a:p>
        </p:txBody>
      </p:sp>
      <p:sp>
        <p:nvSpPr>
          <p:cNvPr id="3088" name="Text Box 8"/>
          <p:cNvSpPr txBox="1">
            <a:spLocks noChangeArrowheads="1"/>
          </p:cNvSpPr>
          <p:nvPr/>
        </p:nvSpPr>
        <p:spPr bwMode="auto">
          <a:xfrm>
            <a:off x="1981200" y="3733800"/>
            <a:ext cx="2667000" cy="153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s-ES" sz="2000">
                <a:latin typeface="Calibri" pitchFamily="34" charset="0"/>
              </a:rPr>
              <a:t>Principio de partida doble (</a:t>
            </a:r>
            <a:r>
              <a:rPr lang="es-ES">
                <a:latin typeface="Calibri" pitchFamily="34" charset="0"/>
              </a:rPr>
              <a:t>Equidad Contable)</a:t>
            </a:r>
          </a:p>
          <a:p>
            <a:pPr eaLnBrk="1" hangingPunct="1"/>
            <a:r>
              <a:rPr lang="es-ES">
                <a:latin typeface="Calibri" pitchFamily="34" charset="0"/>
              </a:rPr>
              <a:t>Igualdad en la suma </a:t>
            </a:r>
          </a:p>
          <a:p>
            <a:pPr eaLnBrk="1" hangingPunct="1"/>
            <a:r>
              <a:rPr lang="es-ES">
                <a:latin typeface="Calibri" pitchFamily="34" charset="0"/>
              </a:rPr>
              <a:t>De Débitos y Créditos</a:t>
            </a:r>
          </a:p>
          <a:p>
            <a:pPr eaLnBrk="1" hangingPunct="1"/>
            <a:endParaRPr lang="es-ES">
              <a:latin typeface="Calibri" pitchFamily="34" charset="0"/>
            </a:endParaRPr>
          </a:p>
        </p:txBody>
      </p:sp>
      <p:sp>
        <p:nvSpPr>
          <p:cNvPr id="12" name="11 Abrir llave"/>
          <p:cNvSpPr/>
          <p:nvPr/>
        </p:nvSpPr>
        <p:spPr>
          <a:xfrm>
            <a:off x="4191000" y="3657600"/>
            <a:ext cx="685800" cy="160020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2640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322388"/>
            <a:ext cx="6875463" cy="5230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Flecha derecha"/>
          <p:cNvSpPr/>
          <p:nvPr/>
        </p:nvSpPr>
        <p:spPr>
          <a:xfrm rot="1439115">
            <a:off x="2241550" y="842963"/>
            <a:ext cx="2239963" cy="550862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MX">
              <a:solidFill>
                <a:srgbClr val="FF0000"/>
              </a:solidFill>
            </a:endParaRPr>
          </a:p>
        </p:txBody>
      </p:sp>
      <p:sp>
        <p:nvSpPr>
          <p:cNvPr id="8" name="7 Llamada rectangular"/>
          <p:cNvSpPr/>
          <p:nvPr/>
        </p:nvSpPr>
        <p:spPr>
          <a:xfrm>
            <a:off x="457200" y="346075"/>
            <a:ext cx="1768475" cy="762000"/>
          </a:xfrm>
          <a:prstGeom prst="wedgeRectCallou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s-MX"/>
              <a:t>Anotaciones en el lado Izquierdo</a:t>
            </a:r>
          </a:p>
        </p:txBody>
      </p:sp>
      <p:sp>
        <p:nvSpPr>
          <p:cNvPr id="11" name="10 Flecha derecha"/>
          <p:cNvSpPr/>
          <p:nvPr/>
        </p:nvSpPr>
        <p:spPr>
          <a:xfrm rot="8881068">
            <a:off x="5360988" y="863600"/>
            <a:ext cx="1841500" cy="485775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MX">
              <a:solidFill>
                <a:srgbClr val="FF0000"/>
              </a:solidFill>
            </a:endParaRPr>
          </a:p>
        </p:txBody>
      </p:sp>
      <p:sp>
        <p:nvSpPr>
          <p:cNvPr id="9" name="8 Llamada rectangular"/>
          <p:cNvSpPr/>
          <p:nvPr/>
        </p:nvSpPr>
        <p:spPr>
          <a:xfrm>
            <a:off x="7129463" y="122238"/>
            <a:ext cx="1676400" cy="985837"/>
          </a:xfrm>
          <a:prstGeom prst="wedgeRect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s-MX"/>
              <a:t>Anotaciones en el lado derecho de la cuenta</a:t>
            </a:r>
          </a:p>
        </p:txBody>
      </p:sp>
      <p:sp>
        <p:nvSpPr>
          <p:cNvPr id="13" name="12 Flecha derecha"/>
          <p:cNvSpPr/>
          <p:nvPr/>
        </p:nvSpPr>
        <p:spPr>
          <a:xfrm rot="13945605">
            <a:off x="6381535" y="2649977"/>
            <a:ext cx="2633083" cy="460328"/>
          </a:xfrm>
          <a:prstGeom prst="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MX">
              <a:solidFill>
                <a:srgbClr val="FF0000"/>
              </a:solidFill>
            </a:endParaRPr>
          </a:p>
        </p:txBody>
      </p:sp>
      <p:sp>
        <p:nvSpPr>
          <p:cNvPr id="10" name="9 Llamada rectangular"/>
          <p:cNvSpPr/>
          <p:nvPr/>
        </p:nvSpPr>
        <p:spPr>
          <a:xfrm>
            <a:off x="7537450" y="4267200"/>
            <a:ext cx="1377950" cy="1676400"/>
          </a:xfrm>
          <a:prstGeom prst="wedgeRectCallou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s-MX"/>
              <a:t>Diferencia matemática o numérica entre débitos y créditos</a:t>
            </a:r>
          </a:p>
        </p:txBody>
      </p:sp>
    </p:spTree>
    <p:extLst>
      <p:ext uri="{BB962C8B-B14F-4D97-AF65-F5344CB8AC3E}">
        <p14:creationId xmlns:p14="http://schemas.microsoft.com/office/powerpoint/2010/main" val="254016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ES"/>
              <a:t>Clasificación y Significado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ES"/>
              <a:t>De acuerdo a su naturaleza</a:t>
            </a:r>
          </a:p>
          <a:p>
            <a:pPr eaLnBrk="1" hangingPunct="1">
              <a:buFont typeface="Wingdings" pitchFamily="2" charset="2"/>
              <a:buNone/>
            </a:pPr>
            <a:endParaRPr lang="es-ES"/>
          </a:p>
        </p:txBody>
      </p:sp>
      <p:sp>
        <p:nvSpPr>
          <p:cNvPr id="5126" name="Text Box 4"/>
          <p:cNvSpPr txBox="1">
            <a:spLocks noChangeArrowheads="1"/>
          </p:cNvSpPr>
          <p:nvPr/>
        </p:nvSpPr>
        <p:spPr bwMode="auto">
          <a:xfrm>
            <a:off x="539750" y="4049713"/>
            <a:ext cx="16954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s-ES" sz="3200">
                <a:latin typeface="Calibri" pitchFamily="34" charset="0"/>
              </a:rPr>
              <a:t>Cuentas</a:t>
            </a:r>
          </a:p>
        </p:txBody>
      </p:sp>
      <p:sp>
        <p:nvSpPr>
          <p:cNvPr id="5127" name="AutoShape 5"/>
          <p:cNvSpPr>
            <a:spLocks/>
          </p:cNvSpPr>
          <p:nvPr/>
        </p:nvSpPr>
        <p:spPr bwMode="auto">
          <a:xfrm>
            <a:off x="2268538" y="2708275"/>
            <a:ext cx="647700" cy="3529013"/>
          </a:xfrm>
          <a:prstGeom prst="leftBrace">
            <a:avLst>
              <a:gd name="adj1" fmla="val 45354"/>
              <a:gd name="adj2" fmla="val 50000"/>
            </a:avLst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s-MX">
              <a:latin typeface="Calibri" pitchFamily="34" charset="0"/>
            </a:endParaRPr>
          </a:p>
        </p:txBody>
      </p:sp>
      <p:sp>
        <p:nvSpPr>
          <p:cNvPr id="5128" name="Text Box 6"/>
          <p:cNvSpPr txBox="1">
            <a:spLocks noChangeArrowheads="1"/>
          </p:cNvSpPr>
          <p:nvPr/>
        </p:nvSpPr>
        <p:spPr bwMode="auto">
          <a:xfrm>
            <a:off x="2967038" y="2290763"/>
            <a:ext cx="1606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s-ES" sz="3600">
                <a:latin typeface="Calibri" pitchFamily="34" charset="0"/>
              </a:rPr>
              <a:t>Reales</a:t>
            </a:r>
          </a:p>
        </p:txBody>
      </p:sp>
      <p:sp>
        <p:nvSpPr>
          <p:cNvPr id="5129" name="Text Box 7"/>
          <p:cNvSpPr txBox="1">
            <a:spLocks noChangeArrowheads="1"/>
          </p:cNvSpPr>
          <p:nvPr/>
        </p:nvSpPr>
        <p:spPr bwMode="auto">
          <a:xfrm>
            <a:off x="2967038" y="4017963"/>
            <a:ext cx="2343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s-ES" sz="3600">
                <a:latin typeface="Calibri" pitchFamily="34" charset="0"/>
              </a:rPr>
              <a:t>Nominales</a:t>
            </a:r>
          </a:p>
        </p:txBody>
      </p:sp>
      <p:sp>
        <p:nvSpPr>
          <p:cNvPr id="5130" name="Text Box 8"/>
          <p:cNvSpPr txBox="1">
            <a:spLocks noChangeArrowheads="1"/>
          </p:cNvSpPr>
          <p:nvPr/>
        </p:nvSpPr>
        <p:spPr bwMode="auto">
          <a:xfrm>
            <a:off x="2967038" y="5675313"/>
            <a:ext cx="2228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s-ES" sz="3600">
                <a:latin typeface="Calibri" pitchFamily="34" charset="0"/>
              </a:rPr>
              <a:t>De Orden</a:t>
            </a:r>
            <a:r>
              <a:rPr lang="es-ES">
                <a:latin typeface="Calibri" pitchFamily="34" charset="0"/>
              </a:rPr>
              <a:t> </a:t>
            </a:r>
          </a:p>
        </p:txBody>
      </p:sp>
      <p:sp>
        <p:nvSpPr>
          <p:cNvPr id="5131" name="AutoShape 10"/>
          <p:cNvSpPr>
            <a:spLocks/>
          </p:cNvSpPr>
          <p:nvPr/>
        </p:nvSpPr>
        <p:spPr bwMode="auto">
          <a:xfrm>
            <a:off x="5148263" y="2286000"/>
            <a:ext cx="338137" cy="1143000"/>
          </a:xfrm>
          <a:prstGeom prst="leftBrace">
            <a:avLst>
              <a:gd name="adj1" fmla="val 1832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s-MX">
              <a:latin typeface="Calibri" pitchFamily="34" charset="0"/>
            </a:endParaRPr>
          </a:p>
        </p:txBody>
      </p:sp>
      <p:sp>
        <p:nvSpPr>
          <p:cNvPr id="5132" name="Text Box 11"/>
          <p:cNvSpPr txBox="1">
            <a:spLocks noChangeArrowheads="1"/>
          </p:cNvSpPr>
          <p:nvPr/>
        </p:nvSpPr>
        <p:spPr bwMode="auto">
          <a:xfrm>
            <a:off x="5867400" y="2205038"/>
            <a:ext cx="16002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s-ES" sz="2400" b="1">
                <a:latin typeface="Calibri" pitchFamily="34" charset="0"/>
              </a:rPr>
              <a:t>Activo</a:t>
            </a:r>
          </a:p>
          <a:p>
            <a:pPr eaLnBrk="1" hangingPunct="1"/>
            <a:r>
              <a:rPr lang="es-ES" sz="2400" b="1">
                <a:latin typeface="Calibri" pitchFamily="34" charset="0"/>
              </a:rPr>
              <a:t>Pasivo</a:t>
            </a:r>
          </a:p>
          <a:p>
            <a:pPr eaLnBrk="1" hangingPunct="1"/>
            <a:r>
              <a:rPr lang="es-ES" sz="2400" b="1">
                <a:latin typeface="Calibri" pitchFamily="34" charset="0"/>
              </a:rPr>
              <a:t>Capital</a:t>
            </a:r>
          </a:p>
        </p:txBody>
      </p:sp>
      <p:sp>
        <p:nvSpPr>
          <p:cNvPr id="5133" name="AutoShape 12"/>
          <p:cNvSpPr>
            <a:spLocks/>
          </p:cNvSpPr>
          <p:nvPr/>
        </p:nvSpPr>
        <p:spPr bwMode="auto">
          <a:xfrm>
            <a:off x="5219700" y="3886200"/>
            <a:ext cx="419100" cy="1371600"/>
          </a:xfrm>
          <a:prstGeom prst="leftBrace">
            <a:avLst>
              <a:gd name="adj1" fmla="val 1430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s-MX">
              <a:latin typeface="Calibri" pitchFamily="34" charset="0"/>
            </a:endParaRPr>
          </a:p>
        </p:txBody>
      </p:sp>
      <p:sp>
        <p:nvSpPr>
          <p:cNvPr id="5134" name="Text Box 13"/>
          <p:cNvSpPr txBox="1">
            <a:spLocks noChangeArrowheads="1"/>
          </p:cNvSpPr>
          <p:nvPr/>
        </p:nvSpPr>
        <p:spPr bwMode="auto">
          <a:xfrm>
            <a:off x="5940425" y="3933825"/>
            <a:ext cx="145415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s-ES" sz="2400" b="1">
                <a:latin typeface="Calibri" pitchFamily="34" charset="0"/>
              </a:rPr>
              <a:t>Ingresos</a:t>
            </a:r>
          </a:p>
          <a:p>
            <a:pPr eaLnBrk="1" hangingPunct="1"/>
            <a:r>
              <a:rPr lang="es-ES" sz="2400" b="1">
                <a:latin typeface="Calibri" pitchFamily="34" charset="0"/>
              </a:rPr>
              <a:t>Costos</a:t>
            </a:r>
          </a:p>
          <a:p>
            <a:pPr eaLnBrk="1" hangingPunct="1"/>
            <a:r>
              <a:rPr lang="es-ES" sz="2400" b="1">
                <a:latin typeface="Calibri" pitchFamily="34" charset="0"/>
              </a:rPr>
              <a:t>Gastos</a:t>
            </a:r>
          </a:p>
        </p:txBody>
      </p:sp>
      <p:sp>
        <p:nvSpPr>
          <p:cNvPr id="5135" name="AutoShape 14"/>
          <p:cNvSpPr>
            <a:spLocks/>
          </p:cNvSpPr>
          <p:nvPr/>
        </p:nvSpPr>
        <p:spPr bwMode="auto">
          <a:xfrm>
            <a:off x="5076825" y="5661025"/>
            <a:ext cx="576263" cy="935038"/>
          </a:xfrm>
          <a:prstGeom prst="leftBrace">
            <a:avLst>
              <a:gd name="adj1" fmla="val 135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s-MX">
              <a:latin typeface="Calibri" pitchFamily="34" charset="0"/>
            </a:endParaRPr>
          </a:p>
        </p:txBody>
      </p:sp>
      <p:sp>
        <p:nvSpPr>
          <p:cNvPr id="5136" name="Text Box 15"/>
          <p:cNvSpPr txBox="1">
            <a:spLocks noChangeArrowheads="1"/>
          </p:cNvSpPr>
          <p:nvPr/>
        </p:nvSpPr>
        <p:spPr bwMode="auto">
          <a:xfrm>
            <a:off x="6084888" y="5445125"/>
            <a:ext cx="1863725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s-ES" sz="2400" b="1">
                <a:latin typeface="Calibri" pitchFamily="34" charset="0"/>
              </a:rPr>
              <a:t>Deudores</a:t>
            </a:r>
          </a:p>
          <a:p>
            <a:pPr eaLnBrk="1" hangingPunct="1"/>
            <a:endParaRPr lang="es-ES" sz="2400" b="1">
              <a:latin typeface="Calibri" pitchFamily="34" charset="0"/>
            </a:endParaRPr>
          </a:p>
          <a:p>
            <a:pPr eaLnBrk="1" hangingPunct="1"/>
            <a:r>
              <a:rPr lang="es-ES" sz="2400" b="1">
                <a:latin typeface="Calibri" pitchFamily="34" charset="0"/>
              </a:rPr>
              <a:t>Acreedores</a:t>
            </a:r>
          </a:p>
        </p:txBody>
      </p:sp>
      <p:pic>
        <p:nvPicPr>
          <p:cNvPr id="5137" name="Picture 16" descr="j0300842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675" y="2924175"/>
            <a:ext cx="1812925" cy="118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8" name="Picture 17" descr="j0300916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575" y="4724400"/>
            <a:ext cx="1808163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7181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1 Título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chemeClr val="accent1"/>
          </a:solidFill>
        </p:spPr>
        <p:txBody>
          <a:bodyPr/>
          <a:lstStyle/>
          <a:p>
            <a:r>
              <a:rPr lang="es-MX">
                <a:solidFill>
                  <a:schemeClr val="bg1"/>
                </a:solidFill>
              </a:rPr>
              <a:t>CUENTAS REALES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4495800" y="1600200"/>
            <a:ext cx="4343400" cy="4953000"/>
          </a:xfrm>
        </p:spPr>
        <p:txBody>
          <a:bodyPr/>
          <a:lstStyle/>
          <a:p>
            <a:pPr algn="just">
              <a:buFont typeface="Arial" charset="0"/>
              <a:buChar char="•"/>
              <a:defRPr/>
            </a:pPr>
            <a:r>
              <a:rPr lang="es-MX">
                <a:solidFill>
                  <a:schemeClr val="accent6">
                    <a:lumMod val="75000"/>
                  </a:schemeClr>
                </a:solidFill>
                <a:latin typeface="Arial Rounded MT Bold" pitchFamily="34" charset="0"/>
              </a:rPr>
              <a:t>Forman el Balance General pues integran el activo, pasivo y capital.</a:t>
            </a:r>
          </a:p>
          <a:p>
            <a:pPr algn="just">
              <a:buFont typeface="Arial" charset="0"/>
              <a:buChar char="•"/>
              <a:defRPr/>
            </a:pPr>
            <a:r>
              <a:rPr lang="es-MX">
                <a:solidFill>
                  <a:schemeClr val="accent6">
                    <a:lumMod val="75000"/>
                  </a:schemeClr>
                </a:solidFill>
                <a:latin typeface="Arial Rounded MT Bold" pitchFamily="34" charset="0"/>
              </a:rPr>
              <a:t>Si una cuenta real queda sin saldo, se dice que está en balance; es decir, tanto su lado débito como su lado crédito, suman igual.</a:t>
            </a:r>
          </a:p>
          <a:p>
            <a:pPr algn="just">
              <a:buFont typeface="Arial" charset="0"/>
              <a:buChar char="•"/>
              <a:defRPr/>
            </a:pPr>
            <a:endParaRPr lang="es-MX">
              <a:solidFill>
                <a:schemeClr val="accent6">
                  <a:lumMod val="75000"/>
                </a:schemeClr>
              </a:solidFill>
              <a:latin typeface="Arial Rounded MT Bold" pitchFamily="34" charset="0"/>
            </a:endParaRPr>
          </a:p>
        </p:txBody>
      </p:sp>
      <p:pic>
        <p:nvPicPr>
          <p:cNvPr id="6148" name="Picture 6" descr="http://4.bp.blogspot.com/_teXjcezxKEk/SxKOw4WU_fI/AAAAAAAAAHw/RM9RLp9ZPTQ/s1600/balanc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55813"/>
            <a:ext cx="3333750" cy="395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5760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990600"/>
          </a:xfrm>
          <a:ln>
            <a:miter lim="800000"/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ES" sz="4000"/>
              <a:t>Cuentas Clasificación y Significado </a:t>
            </a:r>
          </a:p>
        </p:txBody>
      </p:sp>
      <p:sp>
        <p:nvSpPr>
          <p:cNvPr id="717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12875"/>
            <a:ext cx="8229600" cy="5111750"/>
          </a:xfrm>
        </p:spPr>
        <p:txBody>
          <a:bodyPr/>
          <a:lstStyle/>
          <a:p>
            <a:pPr eaLnBrk="1" hangingPunct="1"/>
            <a:r>
              <a:rPr lang="es-ES" sz="2800" b="1"/>
              <a:t>Reales o Permanentes</a:t>
            </a:r>
            <a:r>
              <a:rPr lang="es-ES" sz="2800"/>
              <a:t>: </a:t>
            </a:r>
          </a:p>
          <a:p>
            <a:pPr eaLnBrk="1" hangingPunct="1"/>
            <a:r>
              <a:rPr lang="es-ES" sz="2800"/>
              <a:t>Permanecen abiertas al final del periodo contable</a:t>
            </a:r>
          </a:p>
          <a:p>
            <a:pPr lvl="1" eaLnBrk="1" hangingPunct="1"/>
            <a:r>
              <a:rPr lang="es-ES" sz="3200"/>
              <a:t>Debido a que su saldo no se utiliza para determinar la utilidad o pérdida.</a:t>
            </a:r>
          </a:p>
          <a:p>
            <a:pPr lvl="1" eaLnBrk="1" hangingPunct="1"/>
            <a:r>
              <a:rPr lang="es-ES" sz="3200"/>
              <a:t>Permanecen con saldos que identifican </a:t>
            </a:r>
          </a:p>
          <a:p>
            <a:pPr lvl="2" eaLnBrk="1" hangingPunct="1"/>
            <a:r>
              <a:rPr lang="es-ES" sz="3200" b="1"/>
              <a:t>Bienes de la empresa</a:t>
            </a:r>
          </a:p>
          <a:p>
            <a:pPr lvl="2" eaLnBrk="1" hangingPunct="1"/>
            <a:r>
              <a:rPr lang="es-ES" sz="3200" b="1"/>
              <a:t>Deuda pendiente de pago </a:t>
            </a:r>
          </a:p>
          <a:p>
            <a:pPr lvl="2" eaLnBrk="1" hangingPunct="1"/>
            <a:r>
              <a:rPr lang="es-ES" sz="3200" b="1"/>
              <a:t>Inversión del  dueño.</a:t>
            </a:r>
          </a:p>
        </p:txBody>
      </p:sp>
      <p:pic>
        <p:nvPicPr>
          <p:cNvPr id="5" name="4 Imagen" descr="http://www.manizales.unal.edu.co/modules/unrev_creando/imagenes/organizacion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4267200"/>
            <a:ext cx="2667000" cy="22002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10414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4 Imagen" descr="http://www.henrypelaez.com/wp-content/uploads/2009/12/cer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4953000"/>
            <a:ext cx="15240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ES"/>
              <a:t>Introducción a la Contabilidad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524000"/>
            <a:ext cx="8686800" cy="5105400"/>
          </a:xfrm>
        </p:spPr>
        <p:txBody>
          <a:bodyPr/>
          <a:lstStyle/>
          <a:p>
            <a:pPr algn="just" eaLnBrk="1" hangingPunct="1">
              <a:buFont typeface="Arial" charset="0"/>
              <a:buChar char="•"/>
              <a:defRPr/>
            </a:pPr>
            <a:r>
              <a:rPr lang="es-ES">
                <a:solidFill>
                  <a:srgbClr val="C00000"/>
                </a:solidFill>
              </a:rPr>
              <a:t>Cuentas  Nominales o de Resultados: </a:t>
            </a:r>
          </a:p>
          <a:p>
            <a:pPr marL="0" indent="0" algn="just" eaLnBrk="1" hangingPunct="1">
              <a:buFont typeface="Arial" charset="0"/>
              <a:buNone/>
              <a:defRPr/>
            </a:pPr>
            <a:r>
              <a:rPr lang="es-ES">
                <a:solidFill>
                  <a:srgbClr val="C00000"/>
                </a:solidFill>
              </a:rPr>
              <a:t>	</a:t>
            </a:r>
            <a:r>
              <a:rPr lang="es-ES"/>
              <a:t>Su función principal es determinar las 	ganancias o las pérdidas que tiene la empresa 	(incluye Ingresos, Costos y Gastos)</a:t>
            </a:r>
          </a:p>
          <a:p>
            <a:pPr marL="696913" lvl="2" indent="-342900" algn="just" eaLnBrk="1" hangingPunct="1">
              <a:defRPr/>
            </a:pPr>
            <a:r>
              <a:rPr lang="es-ES" b="1">
                <a:solidFill>
                  <a:srgbClr val="7030A0"/>
                </a:solidFill>
              </a:rPr>
              <a:t>Son Temporales porque no comienzan con el periodo contables.</a:t>
            </a:r>
          </a:p>
          <a:p>
            <a:pPr marL="696913" lvl="2" indent="-342900" algn="just" eaLnBrk="1" hangingPunct="1">
              <a:defRPr/>
            </a:pPr>
            <a:r>
              <a:rPr lang="es-ES" b="1">
                <a:solidFill>
                  <a:schemeClr val="accent6">
                    <a:lumMod val="50000"/>
                  </a:schemeClr>
                </a:solidFill>
              </a:rPr>
              <a:t>Aparecen con las transacciones y se cierran al final del periodo contable, o sea al final de cada ejercicio fiscal quedan en 0. Ya que sus saldos se trasladan al capital.</a:t>
            </a:r>
          </a:p>
          <a:p>
            <a:pPr marL="457200" lvl="1" indent="0" algn="just" eaLnBrk="1" hangingPunct="1">
              <a:buFont typeface="Arial" charset="0"/>
              <a:buNone/>
              <a:defRPr/>
            </a:pPr>
            <a:r>
              <a:rPr lang="es-ES"/>
              <a:t>*</a:t>
            </a:r>
            <a:r>
              <a:rPr lang="es-ES" sz="2400"/>
              <a:t>Dan como resultado la Utilidad o la pérdida</a:t>
            </a:r>
          </a:p>
          <a:p>
            <a:pPr marL="633413" lvl="2" indent="0" algn="just" eaLnBrk="1" hangingPunct="1">
              <a:buFont typeface="Wingdings" pitchFamily="2" charset="2"/>
              <a:buNone/>
              <a:defRPr/>
            </a:pPr>
            <a:r>
              <a:rPr lang="es-ES"/>
              <a:t>En el Periodo fiscal.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304800" y="152400"/>
            <a:ext cx="8610600" cy="1116013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s-ES" sz="4000" b="1"/>
              <a:t>Cuentas Clasificación y Significado </a:t>
            </a:r>
          </a:p>
        </p:txBody>
      </p:sp>
    </p:spTree>
    <p:extLst>
      <p:ext uri="{BB962C8B-B14F-4D97-AF65-F5344CB8AC3E}">
        <p14:creationId xmlns:p14="http://schemas.microsoft.com/office/powerpoint/2010/main" val="806855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Grp="1" noChangeArrowheads="1"/>
          </p:cNvSpPr>
          <p:nvPr>
            <p:ph type="title"/>
          </p:nvPr>
        </p:nvSpPr>
        <p:spPr/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s-ES" sz="4000" b="1"/>
              <a:t>Cuentas Clasificación y Significado 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876800"/>
          </a:xfrm>
        </p:spPr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s-ES" b="1">
                <a:solidFill>
                  <a:srgbClr val="C00000"/>
                </a:solidFill>
              </a:rPr>
              <a:t>CUENTAS  NOMINALES O DE RESULTADOS:</a:t>
            </a:r>
          </a:p>
          <a:p>
            <a:pPr>
              <a:buFont typeface="Arial" charset="0"/>
              <a:buChar char="•"/>
              <a:defRPr/>
            </a:pPr>
            <a:r>
              <a:rPr lang="es-ES" b="1"/>
              <a:t>Los ingresos aumentan el Capital</a:t>
            </a:r>
          </a:p>
          <a:p>
            <a:pPr>
              <a:buFont typeface="Arial" charset="0"/>
              <a:buChar char="•"/>
              <a:defRPr/>
            </a:pPr>
            <a:r>
              <a:rPr lang="es-ES" b="1"/>
              <a:t>Los Gastos y Costos lo disminuyen.</a:t>
            </a:r>
          </a:p>
          <a:p>
            <a:pPr>
              <a:buFont typeface="Arial" charset="0"/>
              <a:buChar char="•"/>
              <a:defRPr/>
            </a:pPr>
            <a:r>
              <a:rPr lang="es-MX"/>
              <a:t>INGRESOS</a:t>
            </a:r>
            <a:br>
              <a:rPr lang="es-MX"/>
            </a:br>
            <a:r>
              <a:rPr lang="es-MX"/>
              <a:t>	</a:t>
            </a:r>
            <a:r>
              <a:rPr lang="es-MX" sz="1800"/>
              <a:t>Venta de Mercancía</a:t>
            </a:r>
          </a:p>
          <a:p>
            <a:pPr marL="914400" lvl="2" indent="0">
              <a:buFont typeface="Arial" charset="0"/>
              <a:buNone/>
              <a:defRPr/>
            </a:pPr>
            <a:r>
              <a:rPr lang="es-MX" sz="1800"/>
              <a:t>Servicios Prestados</a:t>
            </a:r>
          </a:p>
          <a:p>
            <a:pPr marL="0" indent="0">
              <a:buFont typeface="Arial" charset="0"/>
              <a:buNone/>
              <a:defRPr/>
            </a:pPr>
            <a:r>
              <a:rPr lang="es-MX" sz="1800"/>
              <a:t>	Intereses Pagados</a:t>
            </a:r>
          </a:p>
          <a:p>
            <a:pPr marL="0" indent="0">
              <a:buFont typeface="Arial" charset="0"/>
              <a:buNone/>
              <a:defRPr/>
            </a:pPr>
            <a:r>
              <a:rPr lang="es-MX" sz="1800"/>
              <a:t>	Ingresos por Alquiler</a:t>
            </a:r>
          </a:p>
          <a:p>
            <a:pPr>
              <a:buFont typeface="Arial" charset="0"/>
              <a:buChar char="•"/>
              <a:defRPr/>
            </a:pPr>
            <a:endParaRPr lang="es-MX" b="1"/>
          </a:p>
        </p:txBody>
      </p:sp>
      <p:sp>
        <p:nvSpPr>
          <p:cNvPr id="6" name="5 Marcador de contenido"/>
          <p:cNvSpPr>
            <a:spLocks noGrp="1"/>
          </p:cNvSpPr>
          <p:nvPr>
            <p:ph sz="half" idx="2"/>
          </p:nvPr>
        </p:nvSpPr>
        <p:spPr>
          <a:xfrm>
            <a:off x="4343400" y="1600200"/>
            <a:ext cx="4343400" cy="4876800"/>
          </a:xfrm>
        </p:spPr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s-MX"/>
              <a:t>GASTOS:</a:t>
            </a:r>
          </a:p>
          <a:p>
            <a:pPr marL="0" indent="0">
              <a:buFont typeface="Arial" charset="0"/>
              <a:buNone/>
              <a:defRPr/>
            </a:pPr>
            <a:r>
              <a:rPr lang="es-MX"/>
              <a:t>	Gastos de Alquiler</a:t>
            </a:r>
          </a:p>
          <a:p>
            <a:pPr marL="0" indent="0">
              <a:buFont typeface="Arial" charset="0"/>
              <a:buNone/>
              <a:defRPr/>
            </a:pPr>
            <a:r>
              <a:rPr lang="es-MX"/>
              <a:t>	Gastos de Teléfono</a:t>
            </a:r>
          </a:p>
          <a:p>
            <a:pPr marL="0" indent="0">
              <a:buFont typeface="Arial" charset="0"/>
              <a:buNone/>
              <a:defRPr/>
            </a:pPr>
            <a:r>
              <a:rPr lang="es-MX"/>
              <a:t>	Útiles de Oficina </a:t>
            </a:r>
          </a:p>
          <a:p>
            <a:pPr marL="0" indent="0">
              <a:buFont typeface="Arial" charset="0"/>
              <a:buNone/>
              <a:defRPr/>
            </a:pPr>
            <a:endParaRPr lang="es-MX"/>
          </a:p>
          <a:p>
            <a:pPr marL="0" indent="0">
              <a:buFont typeface="Arial" charset="0"/>
              <a:buNone/>
              <a:defRPr/>
            </a:pPr>
            <a:r>
              <a:rPr lang="es-MX"/>
              <a:t>COSTOS: Costo de Ventas</a:t>
            </a:r>
          </a:p>
          <a:p>
            <a:pPr marL="0" indent="0">
              <a:buFont typeface="Arial" charset="0"/>
              <a:buNone/>
              <a:defRPr/>
            </a:pPr>
            <a:r>
              <a:rPr lang="es-MX"/>
              <a:t>	Costo de Producción</a:t>
            </a:r>
          </a:p>
          <a:p>
            <a:pPr marL="895350" indent="-895350">
              <a:buFont typeface="Arial" charset="0"/>
              <a:buNone/>
              <a:defRPr/>
            </a:pPr>
            <a:r>
              <a:rPr lang="es-MX"/>
              <a:t>	Costos de Promoción o mercadeo</a:t>
            </a:r>
          </a:p>
        </p:txBody>
      </p:sp>
    </p:spTree>
    <p:extLst>
      <p:ext uri="{BB962C8B-B14F-4D97-AF65-F5344CB8AC3E}">
        <p14:creationId xmlns:p14="http://schemas.microsoft.com/office/powerpoint/2010/main" val="33856498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ES"/>
              <a:t>Introducción a la Contabilidad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 rtlCol="0">
            <a:normAutofit fontScale="7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E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Cuentas  de Orden</a:t>
            </a:r>
            <a:r>
              <a:rPr lang="es-ES"/>
              <a:t>: son aquellas que no afectan ni modifican cuentas de Balance o de Resultados, esto es, cuentas de activo, pasivo, capital, ingresos y egresos. Representan valores </a:t>
            </a:r>
            <a:r>
              <a:rPr lang="es-ES" b="1"/>
              <a:t>Contingentes</a:t>
            </a:r>
            <a:r>
              <a:rPr lang="es-ES"/>
              <a:t> o nos sirven de </a:t>
            </a:r>
            <a:r>
              <a:rPr lang="es-ES" b="1"/>
              <a:t>Recordatorio</a:t>
            </a:r>
            <a:r>
              <a:rPr lang="es-ES"/>
              <a:t> o de </a:t>
            </a:r>
            <a:r>
              <a:rPr lang="es-ES" b="1"/>
              <a:t>Controles administrativos</a:t>
            </a:r>
            <a:r>
              <a:rPr lang="es-ES"/>
              <a:t>.</a:t>
            </a:r>
            <a:br>
              <a:rPr lang="es-ES"/>
            </a:br>
            <a:endParaRPr lang="es-ES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ES"/>
              <a:t> Las </a:t>
            </a:r>
            <a:r>
              <a:rPr lang="es-ES" b="1"/>
              <a:t>Cuentas de Orden</a:t>
            </a:r>
            <a:r>
              <a:rPr lang="es-ES"/>
              <a:t> se clasifican en:</a:t>
            </a:r>
            <a:br>
              <a:rPr lang="es-ES"/>
            </a:br>
            <a:r>
              <a:rPr lang="es-ES"/>
              <a:t>a)Contingentes,</a:t>
            </a:r>
            <a:br>
              <a:rPr lang="es-ES"/>
            </a:br>
            <a:r>
              <a:rPr lang="es-ES"/>
              <a:t>b) Recordatorio y de Controles Administrativos.</a:t>
            </a:r>
            <a:br>
              <a:rPr lang="es-ES"/>
            </a:br>
            <a:r>
              <a:rPr lang="es-ES"/>
              <a:t>c) Fiscales.</a:t>
            </a:r>
          </a:p>
          <a:p>
            <a:pPr lvl="2" algn="just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s-ES"/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s-ES"/>
              <a:t>La existencia de las cuentas de orden se hace evidente ante la necesidad social de contar con estados financieros ricos en información, para medir las consecuencias de las decisiones y optar por la más favorable; la información que brindan estas cuentas, proporcionan al lector elementos mayores para analizar e interpretar el balance general y al tomar decisiones.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57200" y="277813"/>
            <a:ext cx="8229600" cy="9906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s-ES" sz="4000" b="1"/>
              <a:t>Cuentas Clasificación y Significado </a:t>
            </a:r>
          </a:p>
        </p:txBody>
      </p:sp>
    </p:spTree>
    <p:extLst>
      <p:ext uri="{BB962C8B-B14F-4D97-AF65-F5344CB8AC3E}">
        <p14:creationId xmlns:p14="http://schemas.microsoft.com/office/powerpoint/2010/main" val="2734205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77813"/>
            <a:ext cx="8686800" cy="990600"/>
          </a:xfrm>
          <a:ln>
            <a:miter lim="800000"/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ES" sz="4000"/>
              <a:t>Cuentas Clasificación y Significado 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412875"/>
            <a:ext cx="8686800" cy="5216525"/>
          </a:xfrm>
        </p:spPr>
        <p:txBody>
          <a:bodyPr/>
          <a:lstStyle/>
          <a:p>
            <a:pPr eaLnBrk="1" hangingPunct="1"/>
            <a:r>
              <a:rPr lang="es-ES" sz="2800" b="1"/>
              <a:t>CUENTAS DE ORDEN O DE MEMORANDO: </a:t>
            </a:r>
          </a:p>
          <a:p>
            <a:pPr algn="just" eaLnBrk="1" hangingPunct="1"/>
            <a:r>
              <a:rPr lang="es-ES" sz="2800"/>
              <a:t>Son cuentas que no afectan las cuentas reales (activo, pasivo y capital), ni las cuentas nominales (ingresos, costos y gastos); pero que se necesitan para registrar en ellas valores, contingencias y controles que están a cargo o cuidado de la empresa, no representan propiedad ni generan compromisos a la empresa.</a:t>
            </a:r>
          </a:p>
          <a:p>
            <a:pPr algn="just" eaLnBrk="1" hangingPunct="1"/>
            <a:r>
              <a:rPr lang="es-ES" sz="2800"/>
              <a:t>Hay cuentas de orden deudores (saldo débito) como por ejemplo: Bienes recibidos en garantía o custodia, mercancías en consignación y cuentas de orden acreedoras (saldo crédito) pasivos contingentes</a:t>
            </a:r>
          </a:p>
          <a:p>
            <a:pPr eaLnBrk="1" hangingPunct="1"/>
            <a:endParaRPr lang="es-ES" sz="2800"/>
          </a:p>
        </p:txBody>
      </p:sp>
    </p:spTree>
    <p:extLst>
      <p:ext uri="{BB962C8B-B14F-4D97-AF65-F5344CB8AC3E}">
        <p14:creationId xmlns:p14="http://schemas.microsoft.com/office/powerpoint/2010/main" val="39335952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Grp="1" noChangeArrowheads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ES" sz="4000" b="1"/>
              <a:t>Cuentas Clasificación y Significado 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half" idx="1"/>
          </p:nvPr>
        </p:nvSpPr>
        <p:spPr>
          <a:ln>
            <a:miter lim="800000"/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>
            <a:normAutofit fontScale="77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es-ES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ES"/>
              <a:t>ACTIVOS: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ES"/>
              <a:t>Son todos los bienes o derechos propiedad de una empresa de los cuales se espera obtener un beneficio futuro.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ES"/>
              <a:t>Ejemplo: Efectivo, Terreno, equipos (computadoras)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s-ES"/>
          </a:p>
        </p:txBody>
      </p:sp>
      <p:sp>
        <p:nvSpPr>
          <p:cNvPr id="7" name="6 Marcador de contenido"/>
          <p:cNvSpPr>
            <a:spLocks noGrp="1"/>
          </p:cNvSpPr>
          <p:nvPr>
            <p:ph sz="half" idx="2"/>
          </p:nvPr>
        </p:nvSpPr>
        <p:spPr>
          <a:ln>
            <a:miter lim="800000"/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>
            <a:normAutofit fontScale="77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ES"/>
              <a:t>PASIVOS: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ES"/>
              <a:t>Deudas, compromisos u obligaciones  que se adquiere una empresa y que deberá pagar en un plazo determinado.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s-ES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ES"/>
              <a:t>CAPITAL CONTABLE: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ES"/>
              <a:t>Es el derecho de los propietarios, dueños o accionistas de la empresa sobre los activos. Surgen de sus aportaciones y de las utilidades generadas por la entidad.</a:t>
            </a:r>
          </a:p>
        </p:txBody>
      </p:sp>
    </p:spTree>
    <p:extLst>
      <p:ext uri="{BB962C8B-B14F-4D97-AF65-F5344CB8AC3E}">
        <p14:creationId xmlns:p14="http://schemas.microsoft.com/office/powerpoint/2010/main" val="30159315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3 Título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solidFill>
            <a:srgbClr val="C00000"/>
          </a:solidFill>
        </p:spPr>
        <p:txBody>
          <a:bodyPr/>
          <a:lstStyle/>
          <a:p>
            <a:r>
              <a:rPr lang="es-MX" b="1">
                <a:solidFill>
                  <a:schemeClr val="bg1"/>
                </a:solidFill>
                <a:latin typeface="Arial Rounded MT Bold" pitchFamily="34" charset="0"/>
              </a:rPr>
              <a:t>ACTIVO</a:t>
            </a:r>
          </a:p>
        </p:txBody>
      </p:sp>
      <p:sp>
        <p:nvSpPr>
          <p:cNvPr id="13315" name="4 Marcador de contenido"/>
          <p:cNvSpPr>
            <a:spLocks noGrp="1"/>
          </p:cNvSpPr>
          <p:nvPr>
            <p:ph sz="half" idx="1"/>
          </p:nvPr>
        </p:nvSpPr>
        <p:spPr>
          <a:xfrm>
            <a:off x="228600" y="1295400"/>
            <a:ext cx="4038600" cy="5334000"/>
          </a:xfrm>
          <a:solidFill>
            <a:srgbClr val="FFFF00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s-MX"/>
              <a:t>Todos los recursos que tiene el comerciante o el negocio</a:t>
            </a:r>
          </a:p>
          <a:p>
            <a:r>
              <a:rPr lang="es-MX"/>
              <a:t>Dinero a mano por recibir</a:t>
            </a:r>
          </a:p>
          <a:p>
            <a:r>
              <a:rPr lang="es-MX"/>
              <a:t>Bienes y Propiedades que se posean, aún cuando se deban total o parcialmente</a:t>
            </a:r>
          </a:p>
          <a:p>
            <a:r>
              <a:rPr lang="es-MX"/>
              <a:t>Mercancía para la venta</a:t>
            </a:r>
          </a:p>
          <a:p>
            <a:r>
              <a:rPr lang="es-MX"/>
              <a:t>Materiales consumibles</a:t>
            </a:r>
          </a:p>
          <a:p>
            <a:endParaRPr lang="es-MX"/>
          </a:p>
        </p:txBody>
      </p:sp>
      <p:sp>
        <p:nvSpPr>
          <p:cNvPr id="13316" name="5 Marcador de contenido"/>
          <p:cNvSpPr>
            <a:spLocks noGrp="1"/>
          </p:cNvSpPr>
          <p:nvPr>
            <p:ph sz="half" idx="2"/>
          </p:nvPr>
        </p:nvSpPr>
        <p:spPr>
          <a:xfrm>
            <a:off x="4419600" y="1219200"/>
            <a:ext cx="4495800" cy="5486400"/>
          </a:xfrm>
          <a:solidFill>
            <a:srgbClr val="FFFF00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s-MX"/>
              <a:t>Pagos hechos por adelantado</a:t>
            </a:r>
          </a:p>
          <a:p>
            <a:r>
              <a:rPr lang="es-MX"/>
              <a:t>Todo lo que se puede convertir en dinero</a:t>
            </a:r>
          </a:p>
          <a:p>
            <a:r>
              <a:rPr lang="es-MX"/>
              <a:t>Aumentan por el lado débito y disminuyen por el crédito.</a:t>
            </a:r>
          </a:p>
          <a:p>
            <a:r>
              <a:rPr lang="es-MX"/>
              <a:t>Una cuenta tiene saldo débito cuando el valor de su lado izquierdo es mayor que el valor de su lado derecho</a:t>
            </a:r>
          </a:p>
        </p:txBody>
      </p:sp>
    </p:spTree>
    <p:extLst>
      <p:ext uri="{BB962C8B-B14F-4D97-AF65-F5344CB8AC3E}">
        <p14:creationId xmlns:p14="http://schemas.microsoft.com/office/powerpoint/2010/main" val="12404644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ES"/>
              <a:t>INGRESOS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80060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>
            <a:normAutofit fontScale="85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ES"/>
              <a:t>Son todos los </a:t>
            </a:r>
            <a:r>
              <a:rPr lang="es-ES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beneficios obtenidos</a:t>
            </a:r>
            <a:r>
              <a:rPr lang="es-ES"/>
              <a:t> en la empresa por la prestación de un servicio o la venta de un producto.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ES"/>
              <a:t>No es sinónimo de entrada de dinero.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ES"/>
              <a:t>Según los principios de contabilidad generalmente aceptados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half" idx="2"/>
          </p:nvPr>
        </p:nvSpPr>
        <p:spPr/>
        <p:txBody>
          <a:bodyPr rtlCol="0">
            <a:normAutofit fontScale="85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ES"/>
              <a:t>La empresa debe reconocer los ingresos desde el momento en que realiza la venta del servicio o producto.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ES"/>
              <a:t>Ejemplos: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ES"/>
              <a:t>Sala de belleza importe total que se gana en un periodo determinado por dar el servicio de corte de cabello.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ES"/>
              <a:t>Farmacia importe que recibe por la venta de medicinas.</a:t>
            </a:r>
          </a:p>
        </p:txBody>
      </p:sp>
    </p:spTree>
    <p:extLst>
      <p:ext uri="{BB962C8B-B14F-4D97-AF65-F5344CB8AC3E}">
        <p14:creationId xmlns:p14="http://schemas.microsoft.com/office/powerpoint/2010/main" val="11661294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ES"/>
              <a:t>GASTOS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ln>
            <a:miter lim="800000"/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es-ES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ES"/>
              <a:t>Están representados por el costo de todos los bienes o servicios utilizados por la empresa para generar  ingresos en un periodo determinado. 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/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ES"/>
              <a:t>Ejemplos: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ES"/>
              <a:t>Gasto de luz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ES"/>
              <a:t>Gasto de Agua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ES"/>
              <a:t>Sueldos del personal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ES"/>
              <a:t>Papelería de oficina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s-ES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s-ES"/>
              <a:t>En el Estado de Resultado se presentan en dos grandes grupos gastos administrativos y gastos de ventas.</a:t>
            </a:r>
          </a:p>
        </p:txBody>
      </p:sp>
    </p:spTree>
    <p:extLst>
      <p:ext uri="{BB962C8B-B14F-4D97-AF65-F5344CB8AC3E}">
        <p14:creationId xmlns:p14="http://schemas.microsoft.com/office/powerpoint/2010/main" val="12315051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1 Título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rgbClr val="C00000"/>
          </a:solidFill>
        </p:spPr>
        <p:txBody>
          <a:bodyPr/>
          <a:lstStyle/>
          <a:p>
            <a:r>
              <a:rPr lang="es-MX">
                <a:solidFill>
                  <a:schemeClr val="bg1"/>
                </a:solidFill>
              </a:rPr>
              <a:t>AUMENTO Y DISMINUCIONES</a:t>
            </a: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846057"/>
            <a:ext cx="8534400" cy="448616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5" name="4 Más"/>
          <p:cNvSpPr/>
          <p:nvPr/>
        </p:nvSpPr>
        <p:spPr>
          <a:xfrm>
            <a:off x="299769" y="2966409"/>
            <a:ext cx="747981" cy="1106937"/>
          </a:xfrm>
          <a:prstGeom prst="math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MX"/>
          </a:p>
        </p:txBody>
      </p:sp>
      <p:sp>
        <p:nvSpPr>
          <p:cNvPr id="6" name="5 Menos"/>
          <p:cNvSpPr/>
          <p:nvPr/>
        </p:nvSpPr>
        <p:spPr>
          <a:xfrm>
            <a:off x="4572000" y="2997200"/>
            <a:ext cx="1143000" cy="1143000"/>
          </a:xfrm>
          <a:prstGeom prst="mathMinus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MX"/>
          </a:p>
        </p:txBody>
      </p:sp>
      <p:sp>
        <p:nvSpPr>
          <p:cNvPr id="7" name="6 Menos"/>
          <p:cNvSpPr/>
          <p:nvPr/>
        </p:nvSpPr>
        <p:spPr>
          <a:xfrm>
            <a:off x="3124200" y="2997200"/>
            <a:ext cx="1143000" cy="1143000"/>
          </a:xfrm>
          <a:prstGeom prst="mathMinus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MX"/>
          </a:p>
        </p:txBody>
      </p:sp>
      <p:sp>
        <p:nvSpPr>
          <p:cNvPr id="8" name="7 Más"/>
          <p:cNvSpPr/>
          <p:nvPr/>
        </p:nvSpPr>
        <p:spPr>
          <a:xfrm>
            <a:off x="7962900" y="2997200"/>
            <a:ext cx="876300" cy="1092200"/>
          </a:xfrm>
          <a:prstGeom prst="math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MX"/>
          </a:p>
        </p:txBody>
      </p:sp>
      <p:sp>
        <p:nvSpPr>
          <p:cNvPr id="2" name="1 Rectángulo"/>
          <p:cNvSpPr/>
          <p:nvPr/>
        </p:nvSpPr>
        <p:spPr>
          <a:xfrm>
            <a:off x="304800" y="2553419"/>
            <a:ext cx="4114800" cy="5334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just">
              <a:defRPr/>
            </a:pPr>
            <a:r>
              <a:rPr lang="es-PA" sz="3600" b="1">
                <a:solidFill>
                  <a:schemeClr val="tx1"/>
                </a:solidFill>
              </a:rPr>
              <a:t>  Dr                     Cr</a:t>
            </a:r>
          </a:p>
        </p:txBody>
      </p:sp>
      <p:pic>
        <p:nvPicPr>
          <p:cNvPr id="1639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2316372"/>
            <a:ext cx="4419600" cy="991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Flecha arriba"/>
          <p:cNvSpPr/>
          <p:nvPr/>
        </p:nvSpPr>
        <p:spPr>
          <a:xfrm>
            <a:off x="441226" y="4140200"/>
            <a:ext cx="508198" cy="1161008"/>
          </a:xfrm>
          <a:prstGeom prst="up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A"/>
          </a:p>
        </p:txBody>
      </p:sp>
      <p:sp>
        <p:nvSpPr>
          <p:cNvPr id="11" name="10 Flecha arriba"/>
          <p:cNvSpPr/>
          <p:nvPr/>
        </p:nvSpPr>
        <p:spPr>
          <a:xfrm rot="10800000">
            <a:off x="3441601" y="3863950"/>
            <a:ext cx="508198" cy="1161008"/>
          </a:xfrm>
          <a:prstGeom prst="up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A"/>
          </a:p>
        </p:txBody>
      </p:sp>
      <p:sp>
        <p:nvSpPr>
          <p:cNvPr id="12" name="11 Flecha arriba"/>
          <p:cNvSpPr/>
          <p:nvPr/>
        </p:nvSpPr>
        <p:spPr>
          <a:xfrm>
            <a:off x="8146951" y="4077072"/>
            <a:ext cx="508198" cy="1161008"/>
          </a:xfrm>
          <a:prstGeom prst="up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A"/>
          </a:p>
        </p:txBody>
      </p:sp>
      <p:sp>
        <p:nvSpPr>
          <p:cNvPr id="13" name="12 Flecha arriba"/>
          <p:cNvSpPr/>
          <p:nvPr/>
        </p:nvSpPr>
        <p:spPr>
          <a:xfrm rot="10800000">
            <a:off x="4889401" y="3838401"/>
            <a:ext cx="508198" cy="1161008"/>
          </a:xfrm>
          <a:prstGeom prst="up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25345823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282700"/>
            <a:ext cx="8839200" cy="542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Más"/>
          <p:cNvSpPr/>
          <p:nvPr/>
        </p:nvSpPr>
        <p:spPr>
          <a:xfrm>
            <a:off x="633413" y="3200400"/>
            <a:ext cx="609600" cy="457200"/>
          </a:xfrm>
          <a:prstGeom prst="mathPlus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MX"/>
          </a:p>
        </p:txBody>
      </p:sp>
      <p:sp>
        <p:nvSpPr>
          <p:cNvPr id="6" name="5 Más"/>
          <p:cNvSpPr/>
          <p:nvPr/>
        </p:nvSpPr>
        <p:spPr>
          <a:xfrm>
            <a:off x="7804150" y="3200400"/>
            <a:ext cx="609600" cy="457200"/>
          </a:xfrm>
          <a:prstGeom prst="mathPlus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MX"/>
          </a:p>
        </p:txBody>
      </p:sp>
      <p:sp>
        <p:nvSpPr>
          <p:cNvPr id="7" name="6 Más"/>
          <p:cNvSpPr/>
          <p:nvPr/>
        </p:nvSpPr>
        <p:spPr>
          <a:xfrm>
            <a:off x="4419600" y="3205163"/>
            <a:ext cx="609600" cy="457200"/>
          </a:xfrm>
          <a:prstGeom prst="mathPlus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MX"/>
          </a:p>
        </p:txBody>
      </p:sp>
      <p:sp>
        <p:nvSpPr>
          <p:cNvPr id="8" name="7 Más"/>
          <p:cNvSpPr/>
          <p:nvPr/>
        </p:nvSpPr>
        <p:spPr>
          <a:xfrm>
            <a:off x="614363" y="5845175"/>
            <a:ext cx="609600" cy="457200"/>
          </a:xfrm>
          <a:prstGeom prst="mathPlus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MX"/>
          </a:p>
        </p:txBody>
      </p:sp>
      <p:sp>
        <p:nvSpPr>
          <p:cNvPr id="9" name="8 Más"/>
          <p:cNvSpPr/>
          <p:nvPr/>
        </p:nvSpPr>
        <p:spPr>
          <a:xfrm>
            <a:off x="3276600" y="5880100"/>
            <a:ext cx="609600" cy="457200"/>
          </a:xfrm>
          <a:prstGeom prst="mathPlus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MX"/>
          </a:p>
        </p:txBody>
      </p:sp>
      <p:sp>
        <p:nvSpPr>
          <p:cNvPr id="10" name="9 Más"/>
          <p:cNvSpPr/>
          <p:nvPr/>
        </p:nvSpPr>
        <p:spPr>
          <a:xfrm>
            <a:off x="7848600" y="5867400"/>
            <a:ext cx="609600" cy="457200"/>
          </a:xfrm>
          <a:prstGeom prst="mathPlus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MX"/>
          </a:p>
        </p:txBody>
      </p:sp>
      <p:sp>
        <p:nvSpPr>
          <p:cNvPr id="5" name="4 Menos"/>
          <p:cNvSpPr/>
          <p:nvPr/>
        </p:nvSpPr>
        <p:spPr>
          <a:xfrm>
            <a:off x="1884106" y="3205316"/>
            <a:ext cx="533400" cy="457200"/>
          </a:xfrm>
          <a:prstGeom prst="mathMinus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MX"/>
          </a:p>
        </p:txBody>
      </p:sp>
      <p:sp>
        <p:nvSpPr>
          <p:cNvPr id="12" name="11 Menos"/>
          <p:cNvSpPr/>
          <p:nvPr/>
        </p:nvSpPr>
        <p:spPr>
          <a:xfrm>
            <a:off x="3319616" y="3168445"/>
            <a:ext cx="533400" cy="457200"/>
          </a:xfrm>
          <a:prstGeom prst="mathMinus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MX"/>
          </a:p>
        </p:txBody>
      </p:sp>
      <p:sp>
        <p:nvSpPr>
          <p:cNvPr id="13" name="12 Menos"/>
          <p:cNvSpPr/>
          <p:nvPr/>
        </p:nvSpPr>
        <p:spPr>
          <a:xfrm>
            <a:off x="6400800" y="3200400"/>
            <a:ext cx="533400" cy="457200"/>
          </a:xfrm>
          <a:prstGeom prst="mathMinus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MX"/>
          </a:p>
        </p:txBody>
      </p:sp>
      <p:sp>
        <p:nvSpPr>
          <p:cNvPr id="14" name="13 Menos"/>
          <p:cNvSpPr/>
          <p:nvPr/>
        </p:nvSpPr>
        <p:spPr>
          <a:xfrm>
            <a:off x="4574458" y="5845277"/>
            <a:ext cx="533400" cy="457200"/>
          </a:xfrm>
          <a:prstGeom prst="mathMinus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MX"/>
          </a:p>
        </p:txBody>
      </p:sp>
      <p:sp>
        <p:nvSpPr>
          <p:cNvPr id="15" name="14 Menos"/>
          <p:cNvSpPr/>
          <p:nvPr/>
        </p:nvSpPr>
        <p:spPr>
          <a:xfrm>
            <a:off x="1960306" y="5837903"/>
            <a:ext cx="533400" cy="457200"/>
          </a:xfrm>
          <a:prstGeom prst="mathMinus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MX"/>
          </a:p>
        </p:txBody>
      </p:sp>
      <p:sp>
        <p:nvSpPr>
          <p:cNvPr id="16" name="15 Menos"/>
          <p:cNvSpPr/>
          <p:nvPr/>
        </p:nvSpPr>
        <p:spPr>
          <a:xfrm>
            <a:off x="6400800" y="5837903"/>
            <a:ext cx="533400" cy="457200"/>
          </a:xfrm>
          <a:prstGeom prst="mathMinus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MX"/>
          </a:p>
        </p:txBody>
      </p:sp>
      <p:sp>
        <p:nvSpPr>
          <p:cNvPr id="17435" name="1 Título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  <a:solidFill>
            <a:srgbClr val="C00000"/>
          </a:solidFill>
        </p:spPr>
        <p:txBody>
          <a:bodyPr/>
          <a:lstStyle/>
          <a:p>
            <a:r>
              <a:rPr lang="es-MX">
                <a:solidFill>
                  <a:schemeClr val="bg1"/>
                </a:solidFill>
              </a:rPr>
              <a:t>AUMENTO Y DISMINUCIONES</a:t>
            </a:r>
          </a:p>
        </p:txBody>
      </p:sp>
    </p:spTree>
    <p:extLst>
      <p:ext uri="{BB962C8B-B14F-4D97-AF65-F5344CB8AC3E}">
        <p14:creationId xmlns:p14="http://schemas.microsoft.com/office/powerpoint/2010/main" val="12179720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PA">
                <a:solidFill>
                  <a:schemeClr val="bg1"/>
                </a:solidFill>
              </a:rPr>
              <a:t>ESTRUCTURA CONTABLE</a:t>
            </a:r>
            <a:br>
              <a:rPr lang="es-PA">
                <a:solidFill>
                  <a:schemeClr val="bg1"/>
                </a:solidFill>
              </a:rPr>
            </a:br>
            <a:r>
              <a:rPr lang="es-PA">
                <a:solidFill>
                  <a:schemeClr val="bg1"/>
                </a:solidFill>
              </a:rPr>
              <a:t> CUENTAS REALES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idx="1"/>
          </p:nvPr>
        </p:nvSpPr>
        <p:spPr>
          <a:xfrm>
            <a:off x="457200" y="1481328"/>
            <a:ext cx="8329642" cy="5233820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lnSpcReduction="10000"/>
          </a:bodyPr>
          <a:lstStyle/>
          <a:p>
            <a:r>
              <a:rPr lang="es-PA" sz="2800">
                <a:solidFill>
                  <a:schemeClr val="bg1"/>
                </a:solidFill>
              </a:rPr>
              <a:t>1. ACTIVOS:</a:t>
            </a:r>
          </a:p>
          <a:p>
            <a:pPr lvl="1">
              <a:buNone/>
            </a:pPr>
            <a:r>
              <a:rPr lang="es-PA" sz="2800">
                <a:solidFill>
                  <a:schemeClr val="bg1"/>
                </a:solidFill>
              </a:rPr>
              <a:t>		Activo Corriente / Circulante</a:t>
            </a:r>
          </a:p>
          <a:p>
            <a:pPr lvl="1">
              <a:buNone/>
            </a:pPr>
            <a:r>
              <a:rPr lang="es-PA" sz="2800">
                <a:solidFill>
                  <a:schemeClr val="bg1"/>
                </a:solidFill>
              </a:rPr>
              <a:t>		Todo Activo que puede convertirse en 	dinero en 	menos de 12 meses. Está 	compuesto por todo el 	Efectivo en 	Caja y Banco.</a:t>
            </a:r>
          </a:p>
          <a:p>
            <a:pPr lvl="1">
              <a:buNone/>
            </a:pPr>
            <a:r>
              <a:rPr lang="es-PA" sz="2800">
                <a:solidFill>
                  <a:schemeClr val="bg1"/>
                </a:solidFill>
              </a:rPr>
              <a:t>		1.1. Efectivo, Caja y Banco:</a:t>
            </a:r>
          </a:p>
          <a:p>
            <a:pPr lvl="1">
              <a:buNone/>
            </a:pPr>
            <a:r>
              <a:rPr lang="es-PA" sz="2800">
                <a:solidFill>
                  <a:schemeClr val="bg1"/>
                </a:solidFill>
              </a:rPr>
              <a:t>			Caja General</a:t>
            </a:r>
          </a:p>
          <a:p>
            <a:pPr lvl="1">
              <a:buNone/>
            </a:pPr>
            <a:r>
              <a:rPr lang="es-PA" sz="2800">
                <a:solidFill>
                  <a:schemeClr val="bg1"/>
                </a:solidFill>
              </a:rPr>
              <a:t>			Caja Menuda</a:t>
            </a:r>
          </a:p>
          <a:p>
            <a:pPr lvl="1">
              <a:buNone/>
            </a:pPr>
            <a:r>
              <a:rPr lang="es-PA" sz="2800">
                <a:solidFill>
                  <a:schemeClr val="bg1"/>
                </a:solidFill>
              </a:rPr>
              <a:t>			Banco </a:t>
            </a:r>
          </a:p>
          <a:p>
            <a:pPr lvl="1">
              <a:buNone/>
            </a:pPr>
            <a:r>
              <a:rPr lang="es-PA" sz="2800">
                <a:solidFill>
                  <a:schemeClr val="bg1"/>
                </a:solidFill>
              </a:rPr>
              <a:t>			Inventarios</a:t>
            </a:r>
          </a:p>
          <a:p>
            <a:pPr lvl="1">
              <a:buNone/>
            </a:pPr>
            <a:endParaRPr lang="es-PA" sz="2800">
              <a:solidFill>
                <a:schemeClr val="bg1"/>
              </a:solidFill>
            </a:endParaRPr>
          </a:p>
          <a:p>
            <a:pPr lvl="1">
              <a:buNone/>
            </a:pPr>
            <a:endParaRPr lang="es-PA">
              <a:solidFill>
                <a:schemeClr val="bg1"/>
              </a:solidFill>
            </a:endParaRPr>
          </a:p>
        </p:txBody>
      </p:sp>
      <p:sp>
        <p:nvSpPr>
          <p:cNvPr id="4" name="3 Título"/>
          <p:cNvSpPr txBox="1">
            <a:spLocks/>
          </p:cNvSpPr>
          <p:nvPr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>
                <a:solidFill>
                  <a:schemeClr val="bg1"/>
                </a:solidFill>
                <a:latin typeface="Arial Rounded MT Bold" pitchFamily="34" charset="0"/>
              </a:rPr>
              <a:t>ACTIVO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PA">
                <a:solidFill>
                  <a:schemeClr val="bg1"/>
                </a:solidFill>
              </a:rPr>
              <a:t>ESTRUCTURA CONTABLE</a:t>
            </a:r>
            <a:br>
              <a:rPr lang="es-PA">
                <a:solidFill>
                  <a:schemeClr val="bg1"/>
                </a:solidFill>
              </a:rPr>
            </a:br>
            <a:r>
              <a:rPr lang="es-PA">
                <a:solidFill>
                  <a:schemeClr val="bg1"/>
                </a:solidFill>
              </a:rPr>
              <a:t> CUENTAS REALES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idx="1"/>
          </p:nvPr>
        </p:nvSpPr>
        <p:spPr>
          <a:xfrm>
            <a:off x="457200" y="1481328"/>
            <a:ext cx="8329642" cy="5233820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s-PA" sz="2800">
                <a:solidFill>
                  <a:schemeClr val="bg1"/>
                </a:solidFill>
              </a:rPr>
              <a:t>1. ACTIVOS:</a:t>
            </a:r>
          </a:p>
          <a:p>
            <a:pPr lvl="1">
              <a:buNone/>
            </a:pPr>
            <a:r>
              <a:rPr lang="es-PA" sz="2800">
                <a:solidFill>
                  <a:schemeClr val="bg1"/>
                </a:solidFill>
              </a:rPr>
              <a:t>		1.2. Cuentas por Cobrar:</a:t>
            </a:r>
          </a:p>
          <a:p>
            <a:pPr lvl="1">
              <a:buNone/>
            </a:pPr>
            <a:r>
              <a:rPr lang="es-PA" sz="2800">
                <a:solidFill>
                  <a:schemeClr val="bg1"/>
                </a:solidFill>
              </a:rPr>
              <a:t>			*Cuentas por cobrar: (clientes, 			  empleados, todos los valores 			  producto de ventas al crédito)</a:t>
            </a:r>
          </a:p>
          <a:p>
            <a:pPr lvl="1">
              <a:buNone/>
            </a:pPr>
            <a:r>
              <a:rPr lang="es-PA" sz="2800">
                <a:solidFill>
                  <a:schemeClr val="bg1"/>
                </a:solidFill>
              </a:rPr>
              <a:t>			* Reserva para Cuentas Malas: 			   Amortización o Acumulación 	</a:t>
            </a:r>
          </a:p>
          <a:p>
            <a:pPr lvl="1">
              <a:buNone/>
            </a:pPr>
            <a:r>
              <a:rPr lang="es-PA" sz="2800">
                <a:solidFill>
                  <a:schemeClr val="bg1"/>
                </a:solidFill>
              </a:rPr>
              <a:t>			* Documentos por Cobrar: Letras, 		   pagarés o cualquier otro 			   documento escrito por cobrar de 		   valor.</a:t>
            </a:r>
          </a:p>
          <a:p>
            <a:pPr lvl="1">
              <a:buNone/>
            </a:pPr>
            <a:endParaRPr lang="es-PA">
              <a:solidFill>
                <a:schemeClr val="bg1"/>
              </a:solidFill>
            </a:endParaRPr>
          </a:p>
        </p:txBody>
      </p:sp>
      <p:sp>
        <p:nvSpPr>
          <p:cNvPr id="4" name="3 Título"/>
          <p:cNvSpPr txBox="1">
            <a:spLocks/>
          </p:cNvSpPr>
          <p:nvPr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>
                <a:solidFill>
                  <a:schemeClr val="bg1"/>
                </a:solidFill>
                <a:latin typeface="Arial Rounded MT Bold" pitchFamily="34" charset="0"/>
              </a:rPr>
              <a:t>ACTIVO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Marcador de contenido"/>
          <p:cNvSpPr>
            <a:spLocks noGrp="1"/>
          </p:cNvSpPr>
          <p:nvPr>
            <p:ph idx="1"/>
          </p:nvPr>
        </p:nvSpPr>
        <p:spPr>
          <a:xfrm>
            <a:off x="428596" y="285728"/>
            <a:ext cx="8358246" cy="6429420"/>
          </a:xfrm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s-PA" sz="2800">
                <a:solidFill>
                  <a:schemeClr val="bg1"/>
                </a:solidFill>
              </a:rPr>
              <a:t>1. ACTIVOS:</a:t>
            </a:r>
          </a:p>
          <a:p>
            <a:pPr lvl="1">
              <a:buNone/>
            </a:pPr>
            <a:r>
              <a:rPr lang="es-PA" sz="2800">
                <a:solidFill>
                  <a:schemeClr val="bg1"/>
                </a:solidFill>
              </a:rPr>
              <a:t>		1.3. Activo Fijo: </a:t>
            </a:r>
          </a:p>
          <a:p>
            <a:pPr lvl="1">
              <a:buNone/>
            </a:pPr>
            <a:r>
              <a:rPr lang="es-PA" sz="2800">
                <a:solidFill>
                  <a:schemeClr val="bg1"/>
                </a:solidFill>
              </a:rPr>
              <a:t>			Propiedad planta o 					equipo. Hay que recordar que todos 		los activos fijos dentro de una 			empresa pierden su valor (se 			deprecian); el terreno es el único 		activo fijo que no se deprecia.</a:t>
            </a:r>
          </a:p>
          <a:p>
            <a:pPr lvl="1">
              <a:buNone/>
            </a:pPr>
            <a:endParaRPr lang="es-PA" sz="2800">
              <a:solidFill>
                <a:schemeClr val="bg1"/>
              </a:solidFill>
            </a:endParaRPr>
          </a:p>
          <a:p>
            <a:pPr lvl="1">
              <a:buNone/>
            </a:pPr>
            <a:r>
              <a:rPr lang="es-PA" sz="2800">
                <a:solidFill>
                  <a:schemeClr val="bg1"/>
                </a:solidFill>
              </a:rPr>
              <a:t>						</a:t>
            </a:r>
          </a:p>
          <a:p>
            <a:pPr lvl="1">
              <a:buNone/>
            </a:pPr>
            <a:r>
              <a:rPr lang="es-PA" sz="2800">
                <a:solidFill>
                  <a:schemeClr val="bg1"/>
                </a:solidFill>
              </a:rPr>
              <a:t>			</a:t>
            </a:r>
            <a:r>
              <a:rPr lang="es-PA" sz="2800" b="1">
                <a:solidFill>
                  <a:schemeClr val="bg1"/>
                </a:solidFill>
              </a:rPr>
              <a:t>* El terreno no se deprecia.	</a:t>
            </a:r>
            <a:endParaRPr lang="es-PA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Marcador de contenido"/>
          <p:cNvSpPr>
            <a:spLocks noGrp="1"/>
          </p:cNvSpPr>
          <p:nvPr>
            <p:ph idx="1"/>
          </p:nvPr>
        </p:nvSpPr>
        <p:spPr>
          <a:xfrm>
            <a:off x="285720" y="285728"/>
            <a:ext cx="8501122" cy="6429420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fontScale="92500" lnSpcReduction="10000"/>
          </a:bodyPr>
          <a:lstStyle/>
          <a:p>
            <a:r>
              <a:rPr lang="es-PA" sz="2400">
                <a:solidFill>
                  <a:schemeClr val="bg1"/>
                </a:solidFill>
              </a:rPr>
              <a:t>1. ACTIVOS:</a:t>
            </a:r>
          </a:p>
          <a:p>
            <a:pPr lvl="1">
              <a:buNone/>
            </a:pPr>
            <a:r>
              <a:rPr lang="es-PA" sz="2400">
                <a:solidFill>
                  <a:schemeClr val="bg1"/>
                </a:solidFill>
              </a:rPr>
              <a:t>		1.3. Activo Fijo:</a:t>
            </a:r>
          </a:p>
          <a:p>
            <a:pPr lvl="1">
              <a:buNone/>
            </a:pPr>
            <a:r>
              <a:rPr lang="es-PA" sz="2400">
                <a:solidFill>
                  <a:schemeClr val="bg1"/>
                </a:solidFill>
              </a:rPr>
              <a:t>			</a:t>
            </a:r>
            <a:r>
              <a:rPr lang="es-PA" sz="2400">
                <a:solidFill>
                  <a:srgbClr val="92D050"/>
                </a:solidFill>
              </a:rPr>
              <a:t>*Terreno</a:t>
            </a:r>
          </a:p>
          <a:p>
            <a:pPr lvl="1">
              <a:buNone/>
            </a:pPr>
            <a:r>
              <a:rPr lang="es-PA" sz="2400">
                <a:solidFill>
                  <a:srgbClr val="92D050"/>
                </a:solidFill>
              </a:rPr>
              <a:t>			* Edificio</a:t>
            </a:r>
          </a:p>
          <a:p>
            <a:pPr lvl="1">
              <a:buNone/>
            </a:pPr>
            <a:r>
              <a:rPr lang="es-PA" sz="2400">
                <a:solidFill>
                  <a:schemeClr val="bg1"/>
                </a:solidFill>
              </a:rPr>
              <a:t>			* </a:t>
            </a:r>
            <a:r>
              <a:rPr lang="es-PA" sz="2400">
                <a:solidFill>
                  <a:srgbClr val="92D050"/>
                </a:solidFill>
              </a:rPr>
              <a:t>Depreciación Acumulada a Edificio</a:t>
            </a:r>
          </a:p>
          <a:p>
            <a:pPr lvl="1">
              <a:buNone/>
            </a:pPr>
            <a:r>
              <a:rPr lang="es-PA" sz="2400">
                <a:solidFill>
                  <a:schemeClr val="bg1"/>
                </a:solidFill>
              </a:rPr>
              <a:t>			</a:t>
            </a:r>
            <a:r>
              <a:rPr lang="es-PA" sz="2400">
                <a:solidFill>
                  <a:srgbClr val="FFC000"/>
                </a:solidFill>
              </a:rPr>
              <a:t>*Equipo de Transporte</a:t>
            </a:r>
          </a:p>
          <a:p>
            <a:pPr lvl="1">
              <a:buNone/>
            </a:pPr>
            <a:r>
              <a:rPr lang="es-PA" sz="2400">
                <a:solidFill>
                  <a:srgbClr val="FFC000"/>
                </a:solidFill>
              </a:rPr>
              <a:t>			* Depreciación Acumulada a Equipo Transporte</a:t>
            </a:r>
          </a:p>
          <a:p>
            <a:pPr lvl="1">
              <a:buNone/>
            </a:pPr>
            <a:r>
              <a:rPr lang="es-PA" sz="2400">
                <a:solidFill>
                  <a:schemeClr val="bg1"/>
                </a:solidFill>
              </a:rPr>
              <a:t>		</a:t>
            </a:r>
            <a:r>
              <a:rPr lang="es-PA" sz="2400">
                <a:solidFill>
                  <a:schemeClr val="bg2">
                    <a:lumMod val="50000"/>
                  </a:schemeClr>
                </a:solidFill>
              </a:rPr>
              <a:t>	*Equipo de Oficina</a:t>
            </a:r>
          </a:p>
          <a:p>
            <a:pPr lvl="1">
              <a:buNone/>
            </a:pPr>
            <a:r>
              <a:rPr lang="es-PA" sz="2400">
                <a:solidFill>
                  <a:schemeClr val="bg2">
                    <a:lumMod val="50000"/>
                  </a:schemeClr>
                </a:solidFill>
              </a:rPr>
              <a:t>			* Depreciación Acumulada a Equipo de Oficina</a:t>
            </a:r>
          </a:p>
          <a:p>
            <a:pPr lvl="1">
              <a:buNone/>
            </a:pPr>
            <a:endParaRPr lang="es-PA" sz="2400">
              <a:solidFill>
                <a:schemeClr val="bg2">
                  <a:lumMod val="50000"/>
                </a:schemeClr>
              </a:solidFill>
            </a:endParaRPr>
          </a:p>
          <a:p>
            <a:pPr lvl="1">
              <a:buNone/>
            </a:pPr>
            <a:r>
              <a:rPr lang="es-PA" sz="2400">
                <a:solidFill>
                  <a:schemeClr val="bg1"/>
                </a:solidFill>
              </a:rPr>
              <a:t>		1.4. Otros Activos:</a:t>
            </a:r>
          </a:p>
          <a:p>
            <a:pPr lvl="1">
              <a:buNone/>
            </a:pPr>
            <a:r>
              <a:rPr lang="es-PA" sz="2400">
                <a:solidFill>
                  <a:schemeClr val="bg1"/>
                </a:solidFill>
              </a:rPr>
              <a:t>			* Depósitos de Garantía</a:t>
            </a:r>
          </a:p>
          <a:p>
            <a:pPr lvl="1">
              <a:buNone/>
            </a:pPr>
            <a:r>
              <a:rPr lang="es-PA" sz="2400">
                <a:solidFill>
                  <a:schemeClr val="bg1"/>
                </a:solidFill>
              </a:rPr>
              <a:t>			* Seguros Pagados por adelantado</a:t>
            </a:r>
          </a:p>
          <a:p>
            <a:pPr lvl="1">
              <a:buNone/>
            </a:pPr>
            <a:endParaRPr lang="es-PA" sz="2400">
              <a:solidFill>
                <a:schemeClr val="bg2">
                  <a:lumMod val="50000"/>
                </a:schemeClr>
              </a:solidFill>
            </a:endParaRPr>
          </a:p>
          <a:p>
            <a:pPr lvl="1">
              <a:buNone/>
            </a:pPr>
            <a:r>
              <a:rPr lang="es-PA" sz="2400">
                <a:solidFill>
                  <a:schemeClr val="bg1"/>
                </a:solidFill>
              </a:rPr>
              <a:t>			</a:t>
            </a:r>
          </a:p>
          <a:p>
            <a:pPr lvl="1">
              <a:buNone/>
            </a:pPr>
            <a:endParaRPr lang="es-PA" sz="2800">
              <a:solidFill>
                <a:schemeClr val="bg1"/>
              </a:solidFill>
            </a:endParaRPr>
          </a:p>
          <a:p>
            <a:pPr lvl="1">
              <a:buNone/>
            </a:pPr>
            <a:r>
              <a:rPr lang="es-PA" sz="2000">
                <a:solidFill>
                  <a:schemeClr val="bg1"/>
                </a:solidFill>
              </a:rPr>
              <a:t>			</a:t>
            </a:r>
          </a:p>
          <a:p>
            <a:pPr lvl="1">
              <a:buNone/>
            </a:pPr>
            <a:endParaRPr lang="es-PA" sz="2800">
              <a:solidFill>
                <a:schemeClr val="bg1"/>
              </a:solidFill>
            </a:endParaRPr>
          </a:p>
          <a:p>
            <a:pPr lvl="1">
              <a:buNone/>
            </a:pPr>
            <a:endParaRPr lang="es-PA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Marcador de contenido"/>
          <p:cNvSpPr>
            <a:spLocks noGrp="1"/>
          </p:cNvSpPr>
          <p:nvPr>
            <p:ph idx="1"/>
          </p:nvPr>
        </p:nvSpPr>
        <p:spPr>
          <a:xfrm>
            <a:off x="457200" y="1481328"/>
            <a:ext cx="8329642" cy="5233820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fontScale="85000" lnSpcReduction="20000"/>
          </a:bodyPr>
          <a:lstStyle/>
          <a:p>
            <a:r>
              <a:rPr lang="es-PA" sz="2800">
                <a:solidFill>
                  <a:schemeClr val="bg1"/>
                </a:solidFill>
              </a:rPr>
              <a:t>2. PASIVOS:</a:t>
            </a:r>
          </a:p>
          <a:p>
            <a:pPr lvl="1">
              <a:buNone/>
            </a:pPr>
            <a:r>
              <a:rPr lang="es-PA" sz="2800">
                <a:solidFill>
                  <a:schemeClr val="bg1"/>
                </a:solidFill>
              </a:rPr>
              <a:t>		2.1. Pasivo Corriente:</a:t>
            </a:r>
          </a:p>
          <a:p>
            <a:pPr lvl="1">
              <a:buNone/>
            </a:pPr>
            <a:r>
              <a:rPr lang="es-PA" sz="2800">
                <a:solidFill>
                  <a:schemeClr val="bg1"/>
                </a:solidFill>
              </a:rPr>
              <a:t>			*Cuentas por Pagar: (proveedores, 		  accionistas, documentos, letras 		           por pagar)</a:t>
            </a:r>
          </a:p>
          <a:p>
            <a:pPr lvl="1">
              <a:buNone/>
            </a:pPr>
            <a:r>
              <a:rPr lang="es-PA" sz="2800">
                <a:solidFill>
                  <a:schemeClr val="bg1"/>
                </a:solidFill>
              </a:rPr>
              <a:t>			* Préstamo por Pagar: Corto Plazo,   		  porción corriente. </a:t>
            </a:r>
          </a:p>
          <a:p>
            <a:pPr lvl="1">
              <a:buNone/>
            </a:pPr>
            <a:endParaRPr lang="es-PA" sz="2800">
              <a:solidFill>
                <a:schemeClr val="bg1"/>
              </a:solidFill>
            </a:endParaRPr>
          </a:p>
          <a:p>
            <a:pPr lvl="1">
              <a:buNone/>
            </a:pPr>
            <a:r>
              <a:rPr lang="es-PA" sz="2800">
                <a:solidFill>
                  <a:schemeClr val="bg1"/>
                </a:solidFill>
              </a:rPr>
              <a:t>		 2.2. Pasivo Laboral</a:t>
            </a:r>
          </a:p>
          <a:p>
            <a:pPr lvl="1">
              <a:buNone/>
            </a:pPr>
            <a:r>
              <a:rPr lang="es-PA" sz="2800">
                <a:solidFill>
                  <a:schemeClr val="bg1"/>
                </a:solidFill>
              </a:rPr>
              <a:t>			 * Seguro Social por pagar</a:t>
            </a:r>
          </a:p>
          <a:p>
            <a:pPr lvl="1">
              <a:buNone/>
            </a:pPr>
            <a:r>
              <a:rPr lang="es-PA" sz="2800">
                <a:solidFill>
                  <a:schemeClr val="bg1"/>
                </a:solidFill>
              </a:rPr>
              <a:t>			 * Vacaciones por pagar</a:t>
            </a:r>
          </a:p>
          <a:p>
            <a:pPr lvl="1">
              <a:buNone/>
            </a:pPr>
            <a:r>
              <a:rPr lang="es-PA" sz="2800">
                <a:solidFill>
                  <a:schemeClr val="bg1"/>
                </a:solidFill>
              </a:rPr>
              <a:t>			 * Décimo por pagar</a:t>
            </a:r>
          </a:p>
          <a:p>
            <a:pPr lvl="1">
              <a:buNone/>
            </a:pPr>
            <a:r>
              <a:rPr lang="es-PA" sz="2800">
                <a:solidFill>
                  <a:schemeClr val="bg1"/>
                </a:solidFill>
              </a:rPr>
              <a:t>			 * Prima de Antigüedad por pagar</a:t>
            </a:r>
          </a:p>
          <a:p>
            <a:pPr lvl="1">
              <a:buNone/>
            </a:pPr>
            <a:r>
              <a:rPr lang="es-PA" sz="2800">
                <a:solidFill>
                  <a:schemeClr val="bg1"/>
                </a:solidFill>
              </a:rPr>
              <a:t>			 * Descuentos a empleados por pagar</a:t>
            </a:r>
            <a:endParaRPr lang="es-PA">
              <a:solidFill>
                <a:schemeClr val="bg1"/>
              </a:solidFill>
            </a:endParaRPr>
          </a:p>
        </p:txBody>
      </p:sp>
      <p:sp>
        <p:nvSpPr>
          <p:cNvPr id="4" name="4 Título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rtlCol="0" anchor="ctr">
            <a:normAutofit fontScale="975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A" sz="41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3 Título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solidFill>
            <a:srgbClr val="C00000"/>
          </a:solidFill>
        </p:spPr>
        <p:txBody>
          <a:bodyPr/>
          <a:lstStyle/>
          <a:p>
            <a:r>
              <a:rPr lang="es-MX" b="1">
                <a:solidFill>
                  <a:schemeClr val="bg1"/>
                </a:solidFill>
                <a:latin typeface="Arial Rounded MT Bold" pitchFamily="34" charset="0"/>
              </a:rPr>
              <a:t>PASIVO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Marcador de contenido"/>
          <p:cNvSpPr>
            <a:spLocks noGrp="1"/>
          </p:cNvSpPr>
          <p:nvPr>
            <p:ph idx="1"/>
          </p:nvPr>
        </p:nvSpPr>
        <p:spPr>
          <a:xfrm>
            <a:off x="500034" y="357166"/>
            <a:ext cx="8286808" cy="6357982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s-PA" sz="2800">
                <a:solidFill>
                  <a:schemeClr val="bg1"/>
                </a:solidFill>
              </a:rPr>
              <a:t>2. PASIVOS:</a:t>
            </a:r>
          </a:p>
          <a:p>
            <a:pPr lvl="1">
              <a:buNone/>
            </a:pPr>
            <a:r>
              <a:rPr lang="es-PA" sz="2800">
                <a:solidFill>
                  <a:schemeClr val="bg1"/>
                </a:solidFill>
              </a:rPr>
              <a:t>		2.3. Pasivo a Largo Plazo:</a:t>
            </a:r>
          </a:p>
          <a:p>
            <a:pPr lvl="1">
              <a:buNone/>
            </a:pPr>
            <a:r>
              <a:rPr lang="es-PA" sz="2800">
                <a:solidFill>
                  <a:schemeClr val="bg1"/>
                </a:solidFill>
              </a:rPr>
              <a:t>			*Préstamo por pagar</a:t>
            </a:r>
          </a:p>
          <a:p>
            <a:pPr lvl="1">
              <a:buNone/>
            </a:pPr>
            <a:endParaRPr lang="es-PA" sz="2800">
              <a:solidFill>
                <a:schemeClr val="bg1"/>
              </a:solidFill>
            </a:endParaRPr>
          </a:p>
          <a:p>
            <a:r>
              <a:rPr lang="es-PA" sz="2400">
                <a:solidFill>
                  <a:schemeClr val="bg1"/>
                </a:solidFill>
              </a:rPr>
              <a:t>3. CAPITAL O PATRIMONIO DE LA EMPRESA</a:t>
            </a:r>
          </a:p>
          <a:p>
            <a:pPr lvl="2"/>
            <a:r>
              <a:rPr lang="es-PA" sz="2400">
                <a:solidFill>
                  <a:schemeClr val="bg1"/>
                </a:solidFill>
              </a:rPr>
              <a:t>* Capital Social</a:t>
            </a:r>
          </a:p>
          <a:p>
            <a:pPr lvl="2"/>
            <a:r>
              <a:rPr lang="es-PA" sz="2400">
                <a:solidFill>
                  <a:schemeClr val="bg1"/>
                </a:solidFill>
              </a:rPr>
              <a:t>* Acciones Emitidas y Pagadas</a:t>
            </a:r>
          </a:p>
          <a:p>
            <a:pPr lvl="2"/>
            <a:r>
              <a:rPr lang="es-PA" sz="2400">
                <a:solidFill>
                  <a:schemeClr val="bg1"/>
                </a:solidFill>
              </a:rPr>
              <a:t>* Utilidades: Retenidas y Periodo</a:t>
            </a:r>
          </a:p>
          <a:p>
            <a:pPr lvl="2"/>
            <a:r>
              <a:rPr lang="es-PA" sz="2400">
                <a:solidFill>
                  <a:schemeClr val="bg1"/>
                </a:solidFill>
              </a:rPr>
              <a:t>* Resumen de Ganancias y  Pérdidas</a:t>
            </a:r>
          </a:p>
          <a:p>
            <a:pPr lvl="1">
              <a:buNone/>
            </a:pPr>
            <a:endParaRPr lang="es-PA" sz="2800">
              <a:solidFill>
                <a:schemeClr val="bg1"/>
              </a:solidFill>
            </a:endParaRPr>
          </a:p>
          <a:p>
            <a:pPr lvl="1">
              <a:buNone/>
            </a:pPr>
            <a:endParaRPr lang="es-PA" sz="2800">
              <a:solidFill>
                <a:schemeClr val="bg1"/>
              </a:solidFill>
            </a:endParaRPr>
          </a:p>
          <a:p>
            <a:pPr lvl="1">
              <a:buNone/>
            </a:pPr>
            <a:r>
              <a:rPr lang="es-PA" sz="2800">
                <a:solidFill>
                  <a:schemeClr val="bg1"/>
                </a:solidFill>
              </a:rPr>
              <a:t>		</a:t>
            </a:r>
            <a:endParaRPr lang="es-PA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PA">
                <a:solidFill>
                  <a:schemeClr val="bg1"/>
                </a:solidFill>
              </a:rPr>
              <a:t>ESTRUCTURA CONTABLE</a:t>
            </a:r>
            <a:br>
              <a:rPr lang="es-PA">
                <a:solidFill>
                  <a:schemeClr val="bg1"/>
                </a:solidFill>
              </a:rPr>
            </a:br>
            <a:r>
              <a:rPr lang="es-PA">
                <a:solidFill>
                  <a:schemeClr val="bg1"/>
                </a:solidFill>
              </a:rPr>
              <a:t> CUENTAS NOMINALES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idx="1"/>
          </p:nvPr>
        </p:nvSpPr>
        <p:spPr>
          <a:xfrm>
            <a:off x="457200" y="1481328"/>
            <a:ext cx="8329642" cy="5233820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lnSpcReduction="10000"/>
          </a:bodyPr>
          <a:lstStyle/>
          <a:p>
            <a:endParaRPr lang="es-PA" sz="2800">
              <a:solidFill>
                <a:schemeClr val="bg1"/>
              </a:solidFill>
            </a:endParaRPr>
          </a:p>
          <a:p>
            <a:r>
              <a:rPr lang="es-PA" sz="2800">
                <a:solidFill>
                  <a:schemeClr val="bg1"/>
                </a:solidFill>
              </a:rPr>
              <a:t>4. INGRESOS:</a:t>
            </a:r>
          </a:p>
          <a:p>
            <a:pPr lvl="1">
              <a:buNone/>
            </a:pPr>
            <a:endParaRPr lang="es-PA" sz="2800">
              <a:solidFill>
                <a:schemeClr val="bg1"/>
              </a:solidFill>
            </a:endParaRPr>
          </a:p>
          <a:p>
            <a:pPr lvl="1">
              <a:buNone/>
            </a:pPr>
            <a:r>
              <a:rPr lang="es-PA" sz="2800">
                <a:solidFill>
                  <a:schemeClr val="bg1"/>
                </a:solidFill>
              </a:rPr>
              <a:t>	  * Ventas Gravadas: Contiene el 7%  		   		Impuesto al valor agregado)</a:t>
            </a:r>
          </a:p>
          <a:p>
            <a:pPr lvl="1">
              <a:buNone/>
            </a:pPr>
            <a:endParaRPr lang="es-PA" sz="2800">
              <a:solidFill>
                <a:schemeClr val="bg1"/>
              </a:solidFill>
            </a:endParaRPr>
          </a:p>
          <a:p>
            <a:pPr lvl="1">
              <a:buNone/>
            </a:pPr>
            <a:r>
              <a:rPr lang="es-PA" sz="2800">
                <a:solidFill>
                  <a:schemeClr val="bg1"/>
                </a:solidFill>
              </a:rPr>
              <a:t>		* Ventas No Gravadas: No pagan 7%   	   (Útiles 		Escolares, Farmacias, derivados 	   del 		petróleo).</a:t>
            </a:r>
          </a:p>
          <a:p>
            <a:pPr lvl="1">
              <a:buNone/>
            </a:pPr>
            <a:endParaRPr lang="es-PA" sz="2800">
              <a:solidFill>
                <a:schemeClr val="bg1"/>
              </a:solidFill>
            </a:endParaRPr>
          </a:p>
          <a:p>
            <a:pPr lvl="1">
              <a:buNone/>
            </a:pPr>
            <a:r>
              <a:rPr lang="es-PA" sz="2800">
                <a:solidFill>
                  <a:schemeClr val="bg1"/>
                </a:solidFill>
              </a:rPr>
              <a:t>		</a:t>
            </a:r>
          </a:p>
          <a:p>
            <a:pPr lvl="1">
              <a:buNone/>
            </a:pPr>
            <a:endParaRPr lang="es-PA">
              <a:solidFill>
                <a:schemeClr val="bg1"/>
              </a:solidFill>
            </a:endParaRPr>
          </a:p>
        </p:txBody>
      </p:sp>
      <p:sp>
        <p:nvSpPr>
          <p:cNvPr id="4" name="3 Título"/>
          <p:cNvSpPr txBox="1">
            <a:spLocks/>
          </p:cNvSpPr>
          <p:nvPr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>
                <a:solidFill>
                  <a:schemeClr val="bg1"/>
                </a:solidFill>
                <a:latin typeface="Arial Rounded MT Bold" pitchFamily="34" charset="0"/>
              </a:rPr>
              <a:t>INGRESOS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PA">
                <a:solidFill>
                  <a:schemeClr val="bg1"/>
                </a:solidFill>
              </a:rPr>
              <a:t>ESTRUCTURA CONTABLE</a:t>
            </a:r>
            <a:br>
              <a:rPr lang="es-PA">
                <a:solidFill>
                  <a:schemeClr val="bg1"/>
                </a:solidFill>
              </a:rPr>
            </a:br>
            <a:r>
              <a:rPr lang="es-PA">
                <a:solidFill>
                  <a:schemeClr val="bg1"/>
                </a:solidFill>
              </a:rPr>
              <a:t> CUENTAS NOMINALES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idx="1"/>
          </p:nvPr>
        </p:nvSpPr>
        <p:spPr>
          <a:xfrm>
            <a:off x="457200" y="1481328"/>
            <a:ext cx="8329642" cy="5233820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s-PA" sz="2800">
                <a:solidFill>
                  <a:schemeClr val="bg1"/>
                </a:solidFill>
              </a:rPr>
              <a:t>5. COSTOS:</a:t>
            </a:r>
          </a:p>
          <a:p>
            <a:pPr lvl="1">
              <a:buNone/>
            </a:pPr>
            <a:endParaRPr lang="es-PA" sz="2800">
              <a:solidFill>
                <a:schemeClr val="bg1"/>
              </a:solidFill>
            </a:endParaRPr>
          </a:p>
          <a:p>
            <a:pPr lvl="1">
              <a:buNone/>
            </a:pPr>
            <a:r>
              <a:rPr lang="es-PA" sz="2800">
                <a:solidFill>
                  <a:schemeClr val="bg1"/>
                </a:solidFill>
              </a:rPr>
              <a:t>	  * Compras Gravadas: Contiene el 7%  		   		Impuesto al valor agregado)</a:t>
            </a:r>
          </a:p>
          <a:p>
            <a:pPr lvl="1">
              <a:buNone/>
            </a:pPr>
            <a:endParaRPr lang="es-PA" sz="2800">
              <a:solidFill>
                <a:schemeClr val="bg1"/>
              </a:solidFill>
            </a:endParaRPr>
          </a:p>
          <a:p>
            <a:pPr lvl="1">
              <a:buNone/>
            </a:pPr>
            <a:r>
              <a:rPr lang="es-PA" sz="2800">
                <a:solidFill>
                  <a:schemeClr val="bg1"/>
                </a:solidFill>
              </a:rPr>
              <a:t>		* Compras No Gravadas: No pagan 7%   	</a:t>
            </a:r>
          </a:p>
          <a:p>
            <a:pPr lvl="1">
              <a:buNone/>
            </a:pPr>
            <a:endParaRPr lang="es-PA" sz="2800">
              <a:solidFill>
                <a:schemeClr val="bg1"/>
              </a:solidFill>
            </a:endParaRPr>
          </a:p>
          <a:p>
            <a:pPr lvl="1">
              <a:buNone/>
            </a:pPr>
            <a:r>
              <a:rPr lang="es-PA" sz="2800">
                <a:solidFill>
                  <a:schemeClr val="bg1"/>
                </a:solidFill>
              </a:rPr>
              <a:t>		</a:t>
            </a:r>
          </a:p>
          <a:p>
            <a:pPr lvl="1">
              <a:buNone/>
            </a:pPr>
            <a:endParaRPr lang="es-PA">
              <a:solidFill>
                <a:schemeClr val="bg1"/>
              </a:solidFill>
            </a:endParaRPr>
          </a:p>
        </p:txBody>
      </p:sp>
      <p:sp>
        <p:nvSpPr>
          <p:cNvPr id="4" name="3 Título"/>
          <p:cNvSpPr txBox="1">
            <a:spLocks/>
          </p:cNvSpPr>
          <p:nvPr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>
                <a:solidFill>
                  <a:schemeClr val="bg1"/>
                </a:solidFill>
                <a:latin typeface="Arial Rounded MT Bold" pitchFamily="34" charset="0"/>
              </a:rPr>
              <a:t>COSTOS</a:t>
            </a:r>
          </a:p>
        </p:txBody>
      </p:sp>
    </p:spTree>
    <p:extLst>
      <p:ext uri="{BB962C8B-B14F-4D97-AF65-F5344CB8AC3E}">
        <p14:creationId xmlns:p14="http://schemas.microsoft.com/office/powerpoint/2010/main" val="18262558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Marcador de contenido"/>
          <p:cNvSpPr>
            <a:spLocks noGrp="1"/>
          </p:cNvSpPr>
          <p:nvPr>
            <p:ph idx="1"/>
          </p:nvPr>
        </p:nvSpPr>
        <p:spPr>
          <a:xfrm>
            <a:off x="428596" y="285728"/>
            <a:ext cx="8358246" cy="6429420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fontScale="92500" lnSpcReduction="20000"/>
          </a:bodyPr>
          <a:lstStyle/>
          <a:p>
            <a:r>
              <a:rPr lang="es-PA" sz="2800">
                <a:solidFill>
                  <a:schemeClr val="bg1"/>
                </a:solidFill>
              </a:rPr>
              <a:t>6. GASTOS:</a:t>
            </a:r>
          </a:p>
          <a:p>
            <a:pPr lvl="2"/>
            <a:r>
              <a:rPr lang="es-PA" sz="2200">
                <a:solidFill>
                  <a:schemeClr val="bg1"/>
                </a:solidFill>
              </a:rPr>
              <a:t>* Salarios</a:t>
            </a:r>
          </a:p>
          <a:p>
            <a:pPr lvl="2"/>
            <a:r>
              <a:rPr lang="es-PA" sz="2200">
                <a:solidFill>
                  <a:schemeClr val="bg1"/>
                </a:solidFill>
              </a:rPr>
              <a:t>* Vacaciones</a:t>
            </a:r>
          </a:p>
          <a:p>
            <a:pPr lvl="2"/>
            <a:r>
              <a:rPr lang="es-PA" sz="2200">
                <a:solidFill>
                  <a:schemeClr val="bg1"/>
                </a:solidFill>
              </a:rPr>
              <a:t>* Décimo Tercer Mes</a:t>
            </a:r>
          </a:p>
          <a:p>
            <a:pPr lvl="2"/>
            <a:r>
              <a:rPr lang="es-PA" sz="2200">
                <a:solidFill>
                  <a:schemeClr val="bg1"/>
                </a:solidFill>
              </a:rPr>
              <a:t>*Prima de Antigüedad</a:t>
            </a:r>
          </a:p>
          <a:p>
            <a:pPr lvl="2"/>
            <a:r>
              <a:rPr lang="es-PA" sz="2200">
                <a:solidFill>
                  <a:schemeClr val="bg1"/>
                </a:solidFill>
              </a:rPr>
              <a:t>* Seguro Social</a:t>
            </a:r>
          </a:p>
          <a:p>
            <a:pPr lvl="2"/>
            <a:r>
              <a:rPr lang="es-PA" sz="2200">
                <a:solidFill>
                  <a:schemeClr val="bg1"/>
                </a:solidFill>
              </a:rPr>
              <a:t>*Seguro Educativo</a:t>
            </a:r>
          </a:p>
          <a:p>
            <a:pPr lvl="2"/>
            <a:r>
              <a:rPr lang="es-PA" sz="2200">
                <a:solidFill>
                  <a:schemeClr val="bg1"/>
                </a:solidFill>
              </a:rPr>
              <a:t>*Riesgos Profesionales</a:t>
            </a:r>
          </a:p>
          <a:p>
            <a:pPr lvl="2"/>
            <a:r>
              <a:rPr lang="es-PA" sz="2200">
                <a:solidFill>
                  <a:schemeClr val="bg1"/>
                </a:solidFill>
              </a:rPr>
              <a:t>*Viáticos y Gastos de Viaje</a:t>
            </a:r>
          </a:p>
          <a:p>
            <a:pPr lvl="2"/>
            <a:r>
              <a:rPr lang="es-PA" sz="2200">
                <a:solidFill>
                  <a:schemeClr val="bg1"/>
                </a:solidFill>
              </a:rPr>
              <a:t>* Servicios Profesionales</a:t>
            </a:r>
          </a:p>
          <a:p>
            <a:pPr lvl="2"/>
            <a:r>
              <a:rPr lang="es-PA" sz="2200">
                <a:solidFill>
                  <a:schemeClr val="bg1"/>
                </a:solidFill>
              </a:rPr>
              <a:t>*Servicios Legales</a:t>
            </a:r>
          </a:p>
          <a:p>
            <a:pPr lvl="2"/>
            <a:r>
              <a:rPr lang="es-PA" sz="2200">
                <a:solidFill>
                  <a:schemeClr val="bg1"/>
                </a:solidFill>
              </a:rPr>
              <a:t>*Teléfono</a:t>
            </a:r>
          </a:p>
          <a:p>
            <a:pPr lvl="2"/>
            <a:r>
              <a:rPr lang="es-PA" sz="2200">
                <a:solidFill>
                  <a:schemeClr val="bg1"/>
                </a:solidFill>
              </a:rPr>
              <a:t>*Celular</a:t>
            </a:r>
          </a:p>
          <a:p>
            <a:pPr lvl="2"/>
            <a:r>
              <a:rPr lang="es-PA" sz="2200">
                <a:solidFill>
                  <a:schemeClr val="bg1"/>
                </a:solidFill>
              </a:rPr>
              <a:t>* Luz Eléctrica</a:t>
            </a:r>
          </a:p>
          <a:p>
            <a:pPr lvl="2"/>
            <a:r>
              <a:rPr lang="es-PA" sz="2200">
                <a:solidFill>
                  <a:schemeClr val="bg1"/>
                </a:solidFill>
              </a:rPr>
              <a:t>*Alquiler</a:t>
            </a:r>
          </a:p>
          <a:p>
            <a:pPr lvl="2"/>
            <a:r>
              <a:rPr lang="es-PA" sz="2200">
                <a:solidFill>
                  <a:schemeClr val="bg1"/>
                </a:solidFill>
              </a:rPr>
              <a:t>* Agua y Aseo</a:t>
            </a:r>
          </a:p>
          <a:p>
            <a:pPr lvl="2"/>
            <a:r>
              <a:rPr lang="es-PA" sz="2200">
                <a:solidFill>
                  <a:schemeClr val="bg1"/>
                </a:solidFill>
              </a:rPr>
              <a:t>*Combustible</a:t>
            </a:r>
          </a:p>
          <a:p>
            <a:pPr lvl="2"/>
            <a:r>
              <a:rPr lang="es-PA" sz="2200">
                <a:solidFill>
                  <a:schemeClr val="bg1"/>
                </a:solidFill>
              </a:rPr>
              <a:t>*Depreciaciones</a:t>
            </a:r>
          </a:p>
          <a:p>
            <a:pPr lvl="1">
              <a:buNone/>
            </a:pPr>
            <a:r>
              <a:rPr lang="es-PA" sz="2800">
                <a:solidFill>
                  <a:schemeClr val="bg1"/>
                </a:solidFill>
              </a:rPr>
              <a:t>	</a:t>
            </a:r>
            <a:endParaRPr lang="es-PA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568B5DAF9081947BA6E5E74659BC90D" ma:contentTypeVersion="4" ma:contentTypeDescription="Crear nuevo documento." ma:contentTypeScope="" ma:versionID="c1b8a17dad10a1ad7453529b68d5321b">
  <xsd:schema xmlns:xsd="http://www.w3.org/2001/XMLSchema" xmlns:xs="http://www.w3.org/2001/XMLSchema" xmlns:p="http://schemas.microsoft.com/office/2006/metadata/properties" xmlns:ns2="1a254d15-f5fb-4a7a-a6ba-bba584983fb2" targetNamespace="http://schemas.microsoft.com/office/2006/metadata/properties" ma:root="true" ma:fieldsID="35ad9d72bc1cae75fca11fc69c968547" ns2:_="">
    <xsd:import namespace="1a254d15-f5fb-4a7a-a6ba-bba584983f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254d15-f5fb-4a7a-a6ba-bba584983f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273333-151E-4C78-B420-133DDA75A94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E4EAF2-AB88-4530-9935-9D4009F9629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AE36347-C92E-4742-9E66-F33F4EF34A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254d15-f5fb-4a7a-a6ba-bba584983f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Presentación en pantalla (4:3)</PresentationFormat>
  <Slides>32</Slides>
  <Notes>1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33" baseType="lpstr">
      <vt:lpstr>Tema de Office</vt:lpstr>
      <vt:lpstr>GRUPOS DE CUENTAS Y ECUACIÓN BÁSICA</vt:lpstr>
      <vt:lpstr>EL PROCESO CONTABLE </vt:lpstr>
      <vt:lpstr>TÉRMINOS CONTABLES</vt:lpstr>
      <vt:lpstr>TÉRMINOS CONTABLES</vt:lpstr>
      <vt:lpstr>TÉRMINOS CONTABLES</vt:lpstr>
      <vt:lpstr>Presentación de PowerPoint</vt:lpstr>
      <vt:lpstr>Presentación de PowerPoint</vt:lpstr>
      <vt:lpstr>Presentación de PowerPoint</vt:lpstr>
      <vt:lpstr>Cuentas, Clasificación y Codificación</vt:lpstr>
      <vt:lpstr>Presentación de PowerPoint</vt:lpstr>
      <vt:lpstr>Clasificación y Significado</vt:lpstr>
      <vt:lpstr>CUENTAS REALES</vt:lpstr>
      <vt:lpstr>Cuentas Clasificación y Significado </vt:lpstr>
      <vt:lpstr>Introducción a la Contabilidad</vt:lpstr>
      <vt:lpstr>Cuentas Clasificación y Significado </vt:lpstr>
      <vt:lpstr>Introducción a la Contabilidad</vt:lpstr>
      <vt:lpstr>Cuentas Clasificación y Significado </vt:lpstr>
      <vt:lpstr>Cuentas Clasificación y Significado </vt:lpstr>
      <vt:lpstr>ACTIVO</vt:lpstr>
      <vt:lpstr>INGRESOS</vt:lpstr>
      <vt:lpstr>GASTOS</vt:lpstr>
      <vt:lpstr>AUMENTO Y DISMINUCIONES</vt:lpstr>
      <vt:lpstr>AUMENTO Y DISMINUCIONES</vt:lpstr>
      <vt:lpstr>ESTRUCTURA CONTABLE  CUENTAS REALES</vt:lpstr>
      <vt:lpstr>ESTRUCTURA CONTABLE  CUENTAS REALES</vt:lpstr>
      <vt:lpstr>Presentación de PowerPoint</vt:lpstr>
      <vt:lpstr>Presentación de PowerPoint</vt:lpstr>
      <vt:lpstr>PASIVO</vt:lpstr>
      <vt:lpstr>Presentación de PowerPoint</vt:lpstr>
      <vt:lpstr>ESTRUCTURA CONTABLE  CUENTAS NOMINALES</vt:lpstr>
      <vt:lpstr>ESTRUCTURA CONTABLE  CUENTAS NOMINALES</vt:lpstr>
      <vt:lpstr>Presentación de PowerPoint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PROCESO CONTABLE</dc:title>
  <dc:creator>Administración</dc:creator>
  <cp:revision>14</cp:revision>
  <dcterms:created xsi:type="dcterms:W3CDTF">2010-02-05T00:48:07Z</dcterms:created>
  <dcterms:modified xsi:type="dcterms:W3CDTF">2024-04-08T13:08:51Z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0x0101002568B5DAF9081947BA6E5E74659BC90D</vt:lpwstr>
  </property>
</Properties>
</file>